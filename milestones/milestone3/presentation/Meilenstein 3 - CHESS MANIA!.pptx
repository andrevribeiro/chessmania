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121920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929">
          <p15:clr>
            <a:srgbClr val="A4A3A4"/>
          </p15:clr>
        </p15:guide>
        <p15:guide id="2" orient="horz" pos="958">
          <p15:clr>
            <a:srgbClr val="A4A3A4"/>
          </p15:clr>
        </p15:guide>
        <p15:guide id="3" orient="horz" pos="4065">
          <p15:clr>
            <a:srgbClr val="A4A3A4"/>
          </p15:clr>
        </p15:guide>
        <p15:guide id="4" orient="horz" pos="4110">
          <p15:clr>
            <a:srgbClr val="A4A3A4"/>
          </p15:clr>
        </p15:guide>
        <p15:guide id="5" orient="horz" pos="4178">
          <p15:clr>
            <a:srgbClr val="A4A3A4"/>
          </p15:clr>
        </p15:guide>
        <p15:guide id="6" pos="1231">
          <p15:clr>
            <a:srgbClr val="A4A3A4"/>
          </p15:clr>
        </p15:guide>
        <p15:guide id="7" pos="6993">
          <p15:clr>
            <a:srgbClr val="A4A3A4"/>
          </p15:clr>
        </p15:guide>
        <p15:guide id="8" pos="3840">
          <p15:clr>
            <a:srgbClr val="A4A3A4"/>
          </p15:clr>
        </p15:guide>
        <p15:guide id="9" pos="3795">
          <p15:clr>
            <a:srgbClr val="A4A3A4"/>
          </p15:clr>
        </p15:guide>
        <p15:guide id="10" pos="3885">
          <p15:clr>
            <a:srgbClr val="A4A3A4"/>
          </p15:clr>
        </p15:guide>
        <p15:guide id="11" pos="4248">
          <p15:clr>
            <a:srgbClr val="A4A3A4"/>
          </p15:clr>
        </p15:guide>
        <p15:guide id="12" pos="4340">
          <p15:clr>
            <a:srgbClr val="A4A3A4"/>
          </p15:clr>
        </p15:guide>
        <p15:guide id="13" pos="4679">
          <p15:clr>
            <a:srgbClr val="A4A3A4"/>
          </p15:clr>
        </p15:guide>
        <p15:guide id="14" pos="4770">
          <p15:clr>
            <a:srgbClr val="A4A3A4"/>
          </p15:clr>
        </p15:guide>
        <p15:guide id="15" pos="5132">
          <p15:clr>
            <a:srgbClr val="A4A3A4"/>
          </p15:clr>
        </p15:guide>
        <p15:guide id="16" pos="5223">
          <p15:clr>
            <a:srgbClr val="A4A3A4"/>
          </p15:clr>
        </p15:guide>
        <p15:guide id="17" pos="6108">
          <p15:clr>
            <a:srgbClr val="A4A3A4"/>
          </p15:clr>
        </p15:guide>
        <p15:guide id="18" pos="6449">
          <p15:clr>
            <a:srgbClr val="A4A3A4"/>
          </p15:clr>
        </p15:guide>
        <p15:guide id="19" pos="6902">
          <p15:clr>
            <a:srgbClr val="A4A3A4"/>
          </p15:clr>
        </p15:guide>
        <p15:guide id="20" pos="3432">
          <p15:clr>
            <a:srgbClr val="A4A3A4"/>
          </p15:clr>
        </p15:guide>
        <p15:guide id="21" pos="3342">
          <p15:clr>
            <a:srgbClr val="A4A3A4"/>
          </p15:clr>
        </p15:guide>
        <p15:guide id="22" pos="3000">
          <p15:clr>
            <a:srgbClr val="A4A3A4"/>
          </p15:clr>
        </p15:guide>
        <p15:guide id="23" pos="2911">
          <p15:clr>
            <a:srgbClr val="A4A3A4"/>
          </p15:clr>
        </p15:guide>
        <p15:guide id="24" pos="2547">
          <p15:clr>
            <a:srgbClr val="A4A3A4"/>
          </p15:clr>
        </p15:guide>
        <p15:guide id="25" pos="2457">
          <p15:clr>
            <a:srgbClr val="A4A3A4"/>
          </p15:clr>
        </p15:guide>
        <p15:guide id="26" pos="2116">
          <p15:clr>
            <a:srgbClr val="A4A3A4"/>
          </p15:clr>
        </p15:guide>
        <p15:guide id="27" pos="2026">
          <p15:clr>
            <a:srgbClr val="A4A3A4"/>
          </p15:clr>
        </p15:guide>
        <p15:guide id="28" pos="1662">
          <p15:clr>
            <a:srgbClr val="A4A3A4"/>
          </p15:clr>
        </p15:guide>
        <p15:guide id="29" pos="1573">
          <p15:clr>
            <a:srgbClr val="A4A3A4"/>
          </p15:clr>
        </p15:guide>
        <p15:guide id="30" pos="5564">
          <p15:clr>
            <a:srgbClr val="A4A3A4"/>
          </p15:clr>
        </p15:guide>
        <p15:guide id="31" pos="5655">
          <p15:clr>
            <a:srgbClr val="A4A3A4"/>
          </p15:clr>
        </p15:guide>
        <p15:guide id="32" pos="6017">
          <p15:clr>
            <a:srgbClr val="A4A3A4"/>
          </p15:clr>
        </p15:guide>
        <p15:guide id="33" pos="779">
          <p15:clr>
            <a:srgbClr val="A4A3A4"/>
          </p15:clr>
        </p15:guide>
        <p15:guide id="34" pos="687">
          <p15:clr>
            <a:srgbClr val="A4A3A4"/>
          </p15:clr>
        </p15:guide>
        <p15:guide id="35" pos="347">
          <p15:clr>
            <a:srgbClr val="A4A3A4"/>
          </p15:clr>
        </p15:guide>
        <p15:guide id="36" pos="6540">
          <p15:clr>
            <a:srgbClr val="A4A3A4"/>
          </p15:clr>
        </p15:guide>
        <p15:guide id="37" pos="7332">
          <p15:clr>
            <a:srgbClr val="A4A3A4"/>
          </p15:clr>
        </p15:guide>
        <p15:guide id="38" pos="1141">
          <p15:clr>
            <a:srgbClr val="A4A3A4"/>
          </p15:clr>
        </p15:guide>
        <p15:guide id="39" pos="257">
          <p15:clr>
            <a:srgbClr val="A4A3A4"/>
          </p15:clr>
        </p15:guide>
        <p15:guide id="40" pos="7424">
          <p15:clr>
            <a:srgbClr val="A4A3A4"/>
          </p15:clr>
        </p15:guide>
        <p15:guide id="41" pos="211">
          <p15:clr>
            <a:srgbClr val="A4A3A4"/>
          </p15:clr>
        </p15:guide>
        <p15:guide id="42" pos="746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BEC4AB-648B-497B-B5CD-FC7CF10A4E88}">
  <a:tblStyle styleId="{BEBEC4AB-648B-497B-B5CD-FC7CF10A4E8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50CB930-9DEF-422F-A9D8-26309C5527E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929" orient="horz"/>
        <p:guide pos="958" orient="horz"/>
        <p:guide pos="4065" orient="horz"/>
        <p:guide pos="4110" orient="horz"/>
        <p:guide pos="4178" orient="horz"/>
        <p:guide pos="1231"/>
        <p:guide pos="6993"/>
        <p:guide pos="3840"/>
        <p:guide pos="3795"/>
        <p:guide pos="3885"/>
        <p:guide pos="4248"/>
        <p:guide pos="4340"/>
        <p:guide pos="4679"/>
        <p:guide pos="4770"/>
        <p:guide pos="5132"/>
        <p:guide pos="5223"/>
        <p:guide pos="6108"/>
        <p:guide pos="6449"/>
        <p:guide pos="6902"/>
        <p:guide pos="3432"/>
        <p:guide pos="3342"/>
        <p:guide pos="3000"/>
        <p:guide pos="2911"/>
        <p:guide pos="2547"/>
        <p:guide pos="2457"/>
        <p:guide pos="2116"/>
        <p:guide pos="2026"/>
        <p:guide pos="1662"/>
        <p:guide pos="1573"/>
        <p:guide pos="5564"/>
        <p:guide pos="5655"/>
        <p:guide pos="6017"/>
        <p:guide pos="779"/>
        <p:guide pos="687"/>
        <p:guide pos="347"/>
        <p:guide pos="6540"/>
        <p:guide pos="7332"/>
        <p:guide pos="1141"/>
        <p:guide pos="257"/>
        <p:guide pos="7424"/>
        <p:guide pos="211"/>
        <p:guide pos="746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CH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d34ee7526f_0_49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d34ee7526f_0_49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d34ee7526f_0_49:notes"/>
          <p:cNvSpPr txBox="1"/>
          <p:nvPr>
            <p:ph idx="12" type="sldNum"/>
          </p:nvPr>
        </p:nvSpPr>
        <p:spPr>
          <a:xfrm>
            <a:off x="4021294" y="9721106"/>
            <a:ext cx="3076500" cy="5118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d36852bd1a_1_7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d36852bd1a_1_7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d36852bd1a_1_7:notes"/>
          <p:cNvSpPr txBox="1"/>
          <p:nvPr>
            <p:ph idx="12" type="sldNum"/>
          </p:nvPr>
        </p:nvSpPr>
        <p:spPr>
          <a:xfrm>
            <a:off x="4021294" y="9721106"/>
            <a:ext cx="3076500" cy="5118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d36852bd1a_1_17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d36852bd1a_1_17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d36852bd1a_1_17:notes"/>
          <p:cNvSpPr txBox="1"/>
          <p:nvPr>
            <p:ph idx="12" type="sldNum"/>
          </p:nvPr>
        </p:nvSpPr>
        <p:spPr>
          <a:xfrm>
            <a:off x="4021294" y="9721106"/>
            <a:ext cx="3076500" cy="5118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d34ee7526f_0_59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d34ee7526f_0_59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d34ee7526f_0_59:notes"/>
          <p:cNvSpPr txBox="1"/>
          <p:nvPr>
            <p:ph idx="12" type="sldNum"/>
          </p:nvPr>
        </p:nvSpPr>
        <p:spPr>
          <a:xfrm>
            <a:off x="4021294" y="9721106"/>
            <a:ext cx="3076500" cy="5118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d34ee7526f_0_266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d34ee7526f_0_266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d34ee7526f_0_266:notes"/>
          <p:cNvSpPr txBox="1"/>
          <p:nvPr>
            <p:ph idx="12" type="sldNum"/>
          </p:nvPr>
        </p:nvSpPr>
        <p:spPr>
          <a:xfrm>
            <a:off x="4021294" y="9721106"/>
            <a:ext cx="3076500" cy="5118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d34ee7526f_0_214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d34ee7526f_0_214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d34ee7526f_0_214:notes"/>
          <p:cNvSpPr txBox="1"/>
          <p:nvPr>
            <p:ph idx="12" type="sldNum"/>
          </p:nvPr>
        </p:nvSpPr>
        <p:spPr>
          <a:xfrm>
            <a:off x="4021294" y="9721106"/>
            <a:ext cx="3076500" cy="5118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34ee7526f_0_160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d34ee7526f_0_160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d34ee7526f_0_273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d34ee7526f_0_273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d34ee7526f_0_273:notes"/>
          <p:cNvSpPr txBox="1"/>
          <p:nvPr>
            <p:ph idx="12" type="sldNum"/>
          </p:nvPr>
        </p:nvSpPr>
        <p:spPr>
          <a:xfrm>
            <a:off x="4021294" y="9721106"/>
            <a:ext cx="3076500" cy="5118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d34ee7526f_0_168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d34ee7526f_0_168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d34ee7526f_0_245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d34ee7526f_0_245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d34ee7526f_0_245:notes"/>
          <p:cNvSpPr txBox="1"/>
          <p:nvPr>
            <p:ph idx="12" type="sldNum"/>
          </p:nvPr>
        </p:nvSpPr>
        <p:spPr>
          <a:xfrm>
            <a:off x="4021294" y="9721106"/>
            <a:ext cx="3076500" cy="5118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34ee7526f_0_176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d34ee7526f_0_176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d34ee7526f_0_139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d34ee7526f_0_139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d34ee7526f_0_139:notes"/>
          <p:cNvSpPr txBox="1"/>
          <p:nvPr>
            <p:ph idx="12" type="sldNum"/>
          </p:nvPr>
        </p:nvSpPr>
        <p:spPr>
          <a:xfrm>
            <a:off x="4021294" y="9721106"/>
            <a:ext cx="3076500" cy="5118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d34ee7526f_0_146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d34ee7526f_0_146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d34ee7526f_0_146:notes"/>
          <p:cNvSpPr txBox="1"/>
          <p:nvPr>
            <p:ph idx="12" type="sldNum"/>
          </p:nvPr>
        </p:nvSpPr>
        <p:spPr>
          <a:xfrm>
            <a:off x="4021294" y="9721106"/>
            <a:ext cx="3076500" cy="5118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d34ee7526f_0_153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d34ee7526f_0_153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d34ee7526f_0_153:notes"/>
          <p:cNvSpPr txBox="1"/>
          <p:nvPr>
            <p:ph idx="12" type="sldNum"/>
          </p:nvPr>
        </p:nvSpPr>
        <p:spPr>
          <a:xfrm>
            <a:off x="4021294" y="9721106"/>
            <a:ext cx="3076500" cy="5118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d34ee7526f_0_200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d34ee7526f_0_200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d34ee7526f_0_200:notes"/>
          <p:cNvSpPr txBox="1"/>
          <p:nvPr>
            <p:ph idx="12" type="sldNum"/>
          </p:nvPr>
        </p:nvSpPr>
        <p:spPr>
          <a:xfrm>
            <a:off x="4021294" y="9721106"/>
            <a:ext cx="3076500" cy="5118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d34ee7526f_0_207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d34ee7526f_0_207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d34ee7526f_0_207:notes"/>
          <p:cNvSpPr txBox="1"/>
          <p:nvPr>
            <p:ph idx="12" type="sldNum"/>
          </p:nvPr>
        </p:nvSpPr>
        <p:spPr>
          <a:xfrm>
            <a:off x="4021294" y="9721106"/>
            <a:ext cx="3076500" cy="5118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d34ee7526f_0_184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d34ee7526f_0_184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d34ee7526f_0_113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d34ee7526f_0_113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d34ee7526f_0_113:notes"/>
          <p:cNvSpPr txBox="1"/>
          <p:nvPr>
            <p:ph idx="12" type="sldNum"/>
          </p:nvPr>
        </p:nvSpPr>
        <p:spPr>
          <a:xfrm>
            <a:off x="4021294" y="9721106"/>
            <a:ext cx="3076500" cy="5118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d34ee7526f_0_124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d34ee7526f_0_124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d34ee7526f_0_124:notes"/>
          <p:cNvSpPr txBox="1"/>
          <p:nvPr>
            <p:ph idx="12" type="sldNum"/>
          </p:nvPr>
        </p:nvSpPr>
        <p:spPr>
          <a:xfrm>
            <a:off x="4021294" y="9721106"/>
            <a:ext cx="3076500" cy="5118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d34ee7526f_0_192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d34ee7526f_0_192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d34ee7526f_0_239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d34ee7526f_0_239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d34ee7526f_0_239:notes"/>
          <p:cNvSpPr txBox="1"/>
          <p:nvPr>
            <p:ph idx="12" type="sldNum"/>
          </p:nvPr>
        </p:nvSpPr>
        <p:spPr>
          <a:xfrm>
            <a:off x="4021294" y="9721106"/>
            <a:ext cx="3076500" cy="5118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d36852bd1a_1_0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d36852bd1a_1_0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d36852bd1a_1_0:notes"/>
          <p:cNvSpPr txBox="1"/>
          <p:nvPr>
            <p:ph idx="12" type="sldNum"/>
          </p:nvPr>
        </p:nvSpPr>
        <p:spPr>
          <a:xfrm>
            <a:off x="4021294" y="9721106"/>
            <a:ext cx="3076500" cy="5118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d34ee7526f_0_231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d34ee7526f_0_231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d34ee7526f_0_231:notes"/>
          <p:cNvSpPr txBox="1"/>
          <p:nvPr>
            <p:ph idx="12" type="sldNum"/>
          </p:nvPr>
        </p:nvSpPr>
        <p:spPr>
          <a:xfrm>
            <a:off x="4021294" y="9721106"/>
            <a:ext cx="3076500" cy="5118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7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7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1" y="214313"/>
            <a:ext cx="11977200" cy="4907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 txBox="1"/>
          <p:nvPr>
            <p:ph type="ctrTitle"/>
          </p:nvPr>
        </p:nvSpPr>
        <p:spPr>
          <a:xfrm>
            <a:off x="838800" y="1376363"/>
            <a:ext cx="7428256" cy="1044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eorgia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838800" y="2564904"/>
            <a:ext cx="9067800" cy="324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3600" y="396000"/>
            <a:ext cx="1628546" cy="568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34">
          <p15:clr>
            <a:srgbClr val="FBAE40"/>
          </p15:clr>
        </p15:guide>
        <p15:guide id="2" pos="7542">
          <p15:clr>
            <a:srgbClr val="FBAE40"/>
          </p15:clr>
        </p15:guide>
        <p15:guide id="3" orient="horz" pos="4183">
          <p15:clr>
            <a:srgbClr val="FBAE40"/>
          </p15:clr>
        </p15:guide>
        <p15:guide id="4" pos="136">
          <p15:clr>
            <a:srgbClr val="FBAE40"/>
          </p15:clr>
        </p15:guide>
        <p15:guide id="5" orient="horz" pos="270">
          <p15:clr>
            <a:srgbClr val="FBAE40"/>
          </p15:clr>
        </p15:guide>
        <p15:guide id="6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mit Bild" showMasterSp="0">
  <p:cSld name="Titelfolie mit Bild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0" y="212726"/>
            <a:ext cx="11976100" cy="27844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/>
          <p:nvPr>
            <p:ph type="ctrTitle"/>
          </p:nvPr>
        </p:nvSpPr>
        <p:spPr>
          <a:xfrm>
            <a:off x="838800" y="1376363"/>
            <a:ext cx="7284240" cy="1044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eorgia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838800" y="2564904"/>
            <a:ext cx="9067800" cy="324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/>
          <p:nvPr>
            <p:ph idx="2" type="pic"/>
          </p:nvPr>
        </p:nvSpPr>
        <p:spPr>
          <a:xfrm>
            <a:off x="215900" y="2997203"/>
            <a:ext cx="11760200" cy="3641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3051" y="396000"/>
            <a:ext cx="1628546" cy="568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36">
          <p15:clr>
            <a:srgbClr val="FBAE40"/>
          </p15:clr>
        </p15:guide>
        <p15:guide id="2" orient="horz" pos="134">
          <p15:clr>
            <a:srgbClr val="FBAE40"/>
          </p15:clr>
        </p15:guide>
        <p15:guide id="3" orient="horz" pos="4182">
          <p15:clr>
            <a:srgbClr val="FBAE40"/>
          </p15:clr>
        </p15:guide>
        <p15:guide id="4" pos="7544">
          <p15:clr>
            <a:srgbClr val="FBAE40"/>
          </p15:clr>
        </p15:guide>
        <p15:guide id="5" orient="horz" pos="27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334800" y="404813"/>
            <a:ext cx="11521840" cy="7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334800" y="1520826"/>
            <a:ext cx="11521840" cy="4716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334800" y="6524626"/>
            <a:ext cx="2878667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9120682" y="6525344"/>
            <a:ext cx="2544283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11664965" y="6525344"/>
            <a:ext cx="191675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e, mittig">
  <p:cSld name="Titel und Inhalte, mittig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334800" y="404813"/>
            <a:ext cx="11521840" cy="7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2494800" y="1522800"/>
            <a:ext cx="7200000" cy="4716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334800" y="6524626"/>
            <a:ext cx="2878667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9120682" y="6525344"/>
            <a:ext cx="2544283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11664965" y="6525344"/>
            <a:ext cx="191675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3 Inhalte">
  <p:cSld name="Titel und 3 Inhalt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334800" y="404813"/>
            <a:ext cx="11521840" cy="7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334800" y="1522800"/>
            <a:ext cx="3744000" cy="4716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334800" y="6524626"/>
            <a:ext cx="2878667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9120682" y="6525344"/>
            <a:ext cx="2544283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11664965" y="6525344"/>
            <a:ext cx="191675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8110800" y="1520826"/>
            <a:ext cx="3744000" cy="4716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4222800" y="1520826"/>
            <a:ext cx="3744000" cy="4716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2 Inhalte">
  <p:cSld name="Titel und 2 Inhalt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34800" y="404813"/>
            <a:ext cx="11521840" cy="7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334800" y="1522800"/>
            <a:ext cx="5688000" cy="4716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334800" y="6524626"/>
            <a:ext cx="2878667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9120682" y="6525344"/>
            <a:ext cx="2544283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1664965" y="6525344"/>
            <a:ext cx="191675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53" name="Google Shape;53;p7"/>
          <p:cNvSpPr txBox="1"/>
          <p:nvPr>
            <p:ph idx="2" type="body"/>
          </p:nvPr>
        </p:nvSpPr>
        <p:spPr>
          <a:xfrm>
            <a:off x="6166800" y="1520826"/>
            <a:ext cx="5688000" cy="4716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mit Legende">
  <p:cSld name="Bild mit Legend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335360" y="404813"/>
            <a:ext cx="11521280" cy="7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334800" y="6524626"/>
            <a:ext cx="2878667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9120682" y="6525344"/>
            <a:ext cx="2544283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11664965" y="6525344"/>
            <a:ext cx="191675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59" name="Google Shape;59;p8"/>
          <p:cNvSpPr/>
          <p:nvPr>
            <p:ph idx="2" type="pic"/>
          </p:nvPr>
        </p:nvSpPr>
        <p:spPr>
          <a:xfrm>
            <a:off x="334800" y="1520824"/>
            <a:ext cx="8498051" cy="3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" type="body"/>
          </p:nvPr>
        </p:nvSpPr>
        <p:spPr>
          <a:xfrm>
            <a:off x="8976640" y="1520827"/>
            <a:ext cx="2880000" cy="3959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Bilder">
  <p:cSld name="2 Bil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335360" y="404813"/>
            <a:ext cx="11521280" cy="7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334800" y="6524626"/>
            <a:ext cx="2878667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9120682" y="6525344"/>
            <a:ext cx="2544283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11664965" y="6525344"/>
            <a:ext cx="191675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66" name="Google Shape;66;p9"/>
          <p:cNvSpPr/>
          <p:nvPr>
            <p:ph idx="2" type="pic"/>
          </p:nvPr>
        </p:nvSpPr>
        <p:spPr>
          <a:xfrm>
            <a:off x="334801" y="1520824"/>
            <a:ext cx="5688000" cy="25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9"/>
          <p:cNvSpPr/>
          <p:nvPr>
            <p:ph idx="3" type="pic"/>
          </p:nvPr>
        </p:nvSpPr>
        <p:spPr>
          <a:xfrm>
            <a:off x="6166800" y="1520825"/>
            <a:ext cx="5688000" cy="25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9"/>
          <p:cNvSpPr txBox="1"/>
          <p:nvPr>
            <p:ph idx="1" type="body"/>
          </p:nvPr>
        </p:nvSpPr>
        <p:spPr>
          <a:xfrm>
            <a:off x="334799" y="4221088"/>
            <a:ext cx="5688000" cy="183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4" type="body"/>
          </p:nvPr>
        </p:nvSpPr>
        <p:spPr>
          <a:xfrm>
            <a:off x="6166800" y="4221088"/>
            <a:ext cx="5688000" cy="183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Bilder">
  <p:cSld name="3 Bil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335360" y="404813"/>
            <a:ext cx="11521280" cy="7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334800" y="6524626"/>
            <a:ext cx="2878667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9120682" y="6525344"/>
            <a:ext cx="2544283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11664965" y="6525344"/>
            <a:ext cx="191675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75" name="Google Shape;75;p10"/>
          <p:cNvSpPr/>
          <p:nvPr>
            <p:ph idx="2" type="pic"/>
          </p:nvPr>
        </p:nvSpPr>
        <p:spPr>
          <a:xfrm>
            <a:off x="334800" y="1520824"/>
            <a:ext cx="3744000" cy="3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334800" y="4901715"/>
            <a:ext cx="3744000" cy="115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0"/>
          <p:cNvSpPr/>
          <p:nvPr>
            <p:ph idx="3" type="pic"/>
          </p:nvPr>
        </p:nvSpPr>
        <p:spPr>
          <a:xfrm>
            <a:off x="4224208" y="1520825"/>
            <a:ext cx="3744000" cy="3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body"/>
          </p:nvPr>
        </p:nvSpPr>
        <p:spPr>
          <a:xfrm>
            <a:off x="4219199" y="4901716"/>
            <a:ext cx="3744000" cy="115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0"/>
          <p:cNvSpPr/>
          <p:nvPr>
            <p:ph idx="5" type="pic"/>
          </p:nvPr>
        </p:nvSpPr>
        <p:spPr>
          <a:xfrm>
            <a:off x="8112640" y="1524273"/>
            <a:ext cx="3744000" cy="3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0"/>
          <p:cNvSpPr txBox="1"/>
          <p:nvPr>
            <p:ph idx="6" type="body"/>
          </p:nvPr>
        </p:nvSpPr>
        <p:spPr>
          <a:xfrm>
            <a:off x="8114400" y="4905164"/>
            <a:ext cx="3744000" cy="115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(gross)">
  <p:cSld name="Bild (gross)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>
            <p:ph idx="10" type="dt"/>
          </p:nvPr>
        </p:nvSpPr>
        <p:spPr>
          <a:xfrm>
            <a:off x="334800" y="6524626"/>
            <a:ext cx="2878667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1" type="ftr"/>
          </p:nvPr>
        </p:nvSpPr>
        <p:spPr>
          <a:xfrm>
            <a:off x="9120682" y="6525344"/>
            <a:ext cx="2544283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11664965" y="6525344"/>
            <a:ext cx="191675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85" name="Google Shape;85;p11"/>
          <p:cNvSpPr/>
          <p:nvPr>
            <p:ph idx="2" type="pic"/>
          </p:nvPr>
        </p:nvSpPr>
        <p:spPr>
          <a:xfrm>
            <a:off x="334800" y="334800"/>
            <a:ext cx="11521840" cy="5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>
            <a:off x="334800" y="5554800"/>
            <a:ext cx="11521839" cy="61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(Vollfläche)" showMasterSp="0">
  <p:cSld name="Bild (Vollfläche)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" type="titleOnly">
  <p:cSld name="TITLE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title"/>
          </p:nvPr>
        </p:nvSpPr>
        <p:spPr>
          <a:xfrm>
            <a:off x="335360" y="404813"/>
            <a:ext cx="11521280" cy="7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0" type="dt"/>
          </p:nvPr>
        </p:nvSpPr>
        <p:spPr>
          <a:xfrm>
            <a:off x="334800" y="6524626"/>
            <a:ext cx="2878667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1" type="ftr"/>
          </p:nvPr>
        </p:nvSpPr>
        <p:spPr>
          <a:xfrm>
            <a:off x="9120682" y="6525344"/>
            <a:ext cx="2544283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11664965" y="6525344"/>
            <a:ext cx="191675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r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idx="10" type="dt"/>
          </p:nvPr>
        </p:nvSpPr>
        <p:spPr>
          <a:xfrm>
            <a:off x="334800" y="6524626"/>
            <a:ext cx="2878667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1" type="ftr"/>
          </p:nvPr>
        </p:nvSpPr>
        <p:spPr>
          <a:xfrm>
            <a:off x="9120682" y="6525344"/>
            <a:ext cx="2544283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11664965" y="6525344"/>
            <a:ext cx="191675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35360" y="404813"/>
            <a:ext cx="11521280" cy="7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  <a:defRPr b="1" i="0" sz="23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35360" y="1520826"/>
            <a:ext cx="11521280" cy="4716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334800" y="6524626"/>
            <a:ext cx="2878667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9120682" y="6525344"/>
            <a:ext cx="2544283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1664965" y="6525344"/>
            <a:ext cx="191675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cxnSp>
        <p:nvCxnSpPr>
          <p:cNvPr id="15" name="Google Shape;15;p1"/>
          <p:cNvCxnSpPr/>
          <p:nvPr/>
        </p:nvCxnSpPr>
        <p:spPr>
          <a:xfrm>
            <a:off x="334800" y="6453188"/>
            <a:ext cx="11521840" cy="1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youtube.com/watch?v=0w8HwwfeOmQ" TargetMode="External"/><Relationship Id="rId4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1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13.jpg"/><Relationship Id="rId5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0" Type="http://schemas.openxmlformats.org/officeDocument/2006/relationships/hyperlink" Target="https://de.m.wikipedia.org/wiki/Datei:Google_Slides_logo_(2014-2020).svg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pixabay.com/illustrations/silhouette-chess-game-knight-rook-4233613/" TargetMode="External"/><Relationship Id="rId4" Type="http://schemas.openxmlformats.org/officeDocument/2006/relationships/hyperlink" Target="https://www.chess.com/" TargetMode="External"/><Relationship Id="rId9" Type="http://schemas.openxmlformats.org/officeDocument/2006/relationships/hyperlink" Target="https://commons.wikimedia.org/wiki/File:Google_docs.png" TargetMode="External"/><Relationship Id="rId5" Type="http://schemas.openxmlformats.org/officeDocument/2006/relationships/hyperlink" Target="https://www.dummies.com/games/chess/knowing-the-moves-that-chess-pieces-can-make/" TargetMode="External"/><Relationship Id="rId6" Type="http://schemas.openxmlformats.org/officeDocument/2006/relationships/hyperlink" Target="https://commons.wikimedia.org/wiki/File:Slack_Technologies_Logo.svg" TargetMode="External"/><Relationship Id="rId7" Type="http://schemas.openxmlformats.org/officeDocument/2006/relationships/hyperlink" Target="https://de.m.wikipedia.org/wiki/Datei:Trello-logo-blue.svg" TargetMode="External"/><Relationship Id="rId8" Type="http://schemas.openxmlformats.org/officeDocument/2006/relationships/hyperlink" Target="https://commons.wikimedia.org/wiki/File:Zoom_logo.svg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ctrTitle"/>
          </p:nvPr>
        </p:nvSpPr>
        <p:spPr>
          <a:xfrm>
            <a:off x="838800" y="1376363"/>
            <a:ext cx="7284300" cy="10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eorgia"/>
              <a:buNone/>
            </a:pPr>
            <a:r>
              <a:rPr lang="de-CH"/>
              <a:t>Meilenstein 3</a:t>
            </a:r>
            <a:br>
              <a:rPr lang="de-CH"/>
            </a:br>
            <a:r>
              <a:rPr b="0" lang="de-CH"/>
              <a:t>CHESS MANIA!</a:t>
            </a:r>
            <a:endParaRPr/>
          </a:p>
        </p:txBody>
      </p:sp>
      <p:sp>
        <p:nvSpPr>
          <p:cNvPr id="103" name="Google Shape;103;p15"/>
          <p:cNvSpPr txBox="1"/>
          <p:nvPr>
            <p:ph idx="1" type="subTitle"/>
          </p:nvPr>
        </p:nvSpPr>
        <p:spPr>
          <a:xfrm>
            <a:off x="838800" y="2564904"/>
            <a:ext cx="9067800" cy="324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de-CH"/>
              <a:t>Mark Starzynski, André Vieira Ribeiro, 22./23.4.2021</a:t>
            </a:r>
            <a:endParaRPr/>
          </a:p>
        </p:txBody>
      </p:sp>
      <p:grpSp>
        <p:nvGrpSpPr>
          <p:cNvPr id="104" name="Google Shape;104;p15"/>
          <p:cNvGrpSpPr/>
          <p:nvPr/>
        </p:nvGrpSpPr>
        <p:grpSpPr>
          <a:xfrm>
            <a:off x="1424788" y="3244175"/>
            <a:ext cx="9342424" cy="3280451"/>
            <a:chOff x="895375" y="3358475"/>
            <a:chExt cx="9342424" cy="3280451"/>
          </a:xfrm>
        </p:grpSpPr>
        <p:grpSp>
          <p:nvGrpSpPr>
            <p:cNvPr id="105" name="Google Shape;105;p15"/>
            <p:cNvGrpSpPr/>
            <p:nvPr/>
          </p:nvGrpSpPr>
          <p:grpSpPr>
            <a:xfrm>
              <a:off x="895375" y="3571900"/>
              <a:ext cx="8820099" cy="3067026"/>
              <a:chOff x="895375" y="3571900"/>
              <a:chExt cx="8820099" cy="3067026"/>
            </a:xfrm>
          </p:grpSpPr>
          <p:pic>
            <p:nvPicPr>
              <p:cNvPr descr="Silhouette Chess Game - Free image on Pixabay" id="106" name="Google Shape;106;p15"/>
              <p:cNvPicPr preferRelativeResize="0"/>
              <p:nvPr/>
            </p:nvPicPr>
            <p:blipFill rotWithShape="1">
              <a:blip r:embed="rId3">
                <a:alphaModFix/>
              </a:blip>
              <a:srcRect b="56307" l="2882" r="80248" t="0"/>
              <a:stretch/>
            </p:blipFill>
            <p:spPr>
              <a:xfrm>
                <a:off x="895375" y="3610225"/>
                <a:ext cx="1255276" cy="30223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Silhouette Chess Game - Free image on Pixabay" id="107" name="Google Shape;107;p15"/>
              <p:cNvPicPr preferRelativeResize="0"/>
              <p:nvPr/>
            </p:nvPicPr>
            <p:blipFill rotWithShape="1">
              <a:blip r:embed="rId3">
                <a:alphaModFix/>
              </a:blip>
              <a:srcRect b="56713" l="19576" r="63554" t="-406"/>
              <a:stretch/>
            </p:blipFill>
            <p:spPr>
              <a:xfrm>
                <a:off x="2421975" y="3610225"/>
                <a:ext cx="1255301" cy="30223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Silhouette Chess Game - Free image on Pixabay" id="108" name="Google Shape;108;p15"/>
              <p:cNvPicPr preferRelativeResize="0"/>
              <p:nvPr/>
            </p:nvPicPr>
            <p:blipFill rotWithShape="1">
              <a:blip r:embed="rId3">
                <a:alphaModFix/>
              </a:blip>
              <a:srcRect b="56307" l="36089" r="47042" t="0"/>
              <a:stretch/>
            </p:blipFill>
            <p:spPr>
              <a:xfrm>
                <a:off x="6961250" y="3610200"/>
                <a:ext cx="1255301" cy="30223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Silhouette Chess Game - Free image on Pixabay" id="109" name="Google Shape;109;p15"/>
              <p:cNvPicPr preferRelativeResize="0"/>
              <p:nvPr/>
            </p:nvPicPr>
            <p:blipFill rotWithShape="1">
              <a:blip r:embed="rId3">
                <a:alphaModFix/>
              </a:blip>
              <a:srcRect b="55869" l="53225" r="30506" t="0"/>
              <a:stretch/>
            </p:blipFill>
            <p:spPr>
              <a:xfrm>
                <a:off x="3948575" y="3586250"/>
                <a:ext cx="1210574" cy="30526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Silhouette Chess Game - Free image on Pixabay" id="110" name="Google Shape;110;p15"/>
              <p:cNvPicPr preferRelativeResize="0"/>
              <p:nvPr/>
            </p:nvPicPr>
            <p:blipFill rotWithShape="1">
              <a:blip r:embed="rId3">
                <a:alphaModFix/>
              </a:blip>
              <a:srcRect b="55869" l="68213" r="15518" t="0"/>
              <a:stretch/>
            </p:blipFill>
            <p:spPr>
              <a:xfrm>
                <a:off x="5430450" y="3571900"/>
                <a:ext cx="1210599" cy="30526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Silhouette Chess Game - Free image on Pixabay" id="111" name="Google Shape;111;p15"/>
              <p:cNvPicPr preferRelativeResize="0"/>
              <p:nvPr/>
            </p:nvPicPr>
            <p:blipFill rotWithShape="1">
              <a:blip r:embed="rId3">
                <a:alphaModFix/>
              </a:blip>
              <a:srcRect b="56373" l="83799" r="-66" t="18061"/>
              <a:stretch/>
            </p:blipFill>
            <p:spPr>
              <a:xfrm>
                <a:off x="8504900" y="4856200"/>
                <a:ext cx="1210574" cy="176837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2" name="Google Shape;112;p15"/>
            <p:cNvGrpSpPr/>
            <p:nvPr/>
          </p:nvGrpSpPr>
          <p:grpSpPr>
            <a:xfrm>
              <a:off x="1417700" y="3358475"/>
              <a:ext cx="8820099" cy="3067026"/>
              <a:chOff x="895375" y="3571900"/>
              <a:chExt cx="8820099" cy="3067026"/>
            </a:xfrm>
          </p:grpSpPr>
          <p:pic>
            <p:nvPicPr>
              <p:cNvPr descr="Silhouette Chess Game - Free image on Pixabay" id="113" name="Google Shape;113;p15"/>
              <p:cNvPicPr preferRelativeResize="0"/>
              <p:nvPr/>
            </p:nvPicPr>
            <p:blipFill rotWithShape="1">
              <a:blip r:embed="rId3">
                <a:alphaModFix amt="32000"/>
              </a:blip>
              <a:srcRect b="56307" l="2882" r="80248" t="0"/>
              <a:stretch/>
            </p:blipFill>
            <p:spPr>
              <a:xfrm>
                <a:off x="895375" y="3610225"/>
                <a:ext cx="1255276" cy="30223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Silhouette Chess Game - Free image on Pixabay" id="114" name="Google Shape;114;p15"/>
              <p:cNvPicPr preferRelativeResize="0"/>
              <p:nvPr/>
            </p:nvPicPr>
            <p:blipFill rotWithShape="1">
              <a:blip r:embed="rId3">
                <a:alphaModFix amt="32000"/>
              </a:blip>
              <a:srcRect b="56713" l="19576" r="63554" t="-406"/>
              <a:stretch/>
            </p:blipFill>
            <p:spPr>
              <a:xfrm>
                <a:off x="2421975" y="3610225"/>
                <a:ext cx="1255301" cy="30223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Silhouette Chess Game - Free image on Pixabay" id="115" name="Google Shape;115;p15"/>
              <p:cNvPicPr preferRelativeResize="0"/>
              <p:nvPr/>
            </p:nvPicPr>
            <p:blipFill rotWithShape="1">
              <a:blip r:embed="rId3">
                <a:alphaModFix amt="32000"/>
              </a:blip>
              <a:srcRect b="56307" l="36089" r="47042" t="0"/>
              <a:stretch/>
            </p:blipFill>
            <p:spPr>
              <a:xfrm>
                <a:off x="6961250" y="3610200"/>
                <a:ext cx="1255301" cy="30223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Silhouette Chess Game - Free image on Pixabay" id="116" name="Google Shape;116;p15"/>
              <p:cNvPicPr preferRelativeResize="0"/>
              <p:nvPr/>
            </p:nvPicPr>
            <p:blipFill rotWithShape="1">
              <a:blip r:embed="rId3">
                <a:alphaModFix amt="32000"/>
              </a:blip>
              <a:srcRect b="55869" l="53225" r="30506" t="0"/>
              <a:stretch/>
            </p:blipFill>
            <p:spPr>
              <a:xfrm>
                <a:off x="3948575" y="3586250"/>
                <a:ext cx="1210574" cy="30526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Silhouette Chess Game - Free image on Pixabay" id="117" name="Google Shape;117;p15"/>
              <p:cNvPicPr preferRelativeResize="0"/>
              <p:nvPr/>
            </p:nvPicPr>
            <p:blipFill rotWithShape="1">
              <a:blip r:embed="rId3">
                <a:alphaModFix amt="32000"/>
              </a:blip>
              <a:srcRect b="55869" l="68213" r="15518" t="0"/>
              <a:stretch/>
            </p:blipFill>
            <p:spPr>
              <a:xfrm>
                <a:off x="5430450" y="3571900"/>
                <a:ext cx="1210599" cy="30526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Silhouette Chess Game - Free image on Pixabay" id="118" name="Google Shape;118;p15"/>
              <p:cNvPicPr preferRelativeResize="0"/>
              <p:nvPr/>
            </p:nvPicPr>
            <p:blipFill rotWithShape="1">
              <a:blip r:embed="rId3">
                <a:alphaModFix amt="32000"/>
              </a:blip>
              <a:srcRect b="56373" l="83799" r="-66" t="18061"/>
              <a:stretch/>
            </p:blipFill>
            <p:spPr>
              <a:xfrm>
                <a:off x="8504900" y="4856200"/>
                <a:ext cx="1210574" cy="176837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>
            <p:ph type="title"/>
          </p:nvPr>
        </p:nvSpPr>
        <p:spPr>
          <a:xfrm>
            <a:off x="335360" y="404813"/>
            <a:ext cx="11521280" cy="7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de-CH"/>
              <a:t>Inhaltsangabe</a:t>
            </a:r>
            <a:endParaRPr/>
          </a:p>
        </p:txBody>
      </p:sp>
      <p:sp>
        <p:nvSpPr>
          <p:cNvPr id="124" name="Google Shape;124;p16"/>
          <p:cNvSpPr txBox="1"/>
          <p:nvPr>
            <p:ph idx="11" type="ftr"/>
          </p:nvPr>
        </p:nvSpPr>
        <p:spPr>
          <a:xfrm>
            <a:off x="9120682" y="6525344"/>
            <a:ext cx="2544283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Universität Basel</a:t>
            </a:r>
            <a:endParaRPr/>
          </a:p>
        </p:txBody>
      </p:sp>
      <p:sp>
        <p:nvSpPr>
          <p:cNvPr id="125" name="Google Shape;125;p16"/>
          <p:cNvSpPr txBox="1"/>
          <p:nvPr>
            <p:ph idx="12" type="sldNum"/>
          </p:nvPr>
        </p:nvSpPr>
        <p:spPr>
          <a:xfrm>
            <a:off x="11664965" y="6525344"/>
            <a:ext cx="191675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graphicFrame>
        <p:nvGraphicFramePr>
          <p:cNvPr id="126" name="Google Shape;126;p16"/>
          <p:cNvGraphicFramePr/>
          <p:nvPr/>
        </p:nvGraphicFramePr>
        <p:xfrm>
          <a:off x="334963" y="15259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{BEBEC4AB-648B-497B-B5CD-FC7CF10A4E88}</a:tableStyleId>
              </a:tblPr>
              <a:tblGrid>
                <a:gridCol w="650900"/>
                <a:gridCol w="108707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 u="none" cap="none" strike="noStrike"/>
                        <a:t>1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CHESS MANIA! - Ziele, Regeln und Mechaniken 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2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Repräsentation des Spielstandes und der Spiellogik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3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Demo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4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Software-</a:t>
                      </a:r>
                      <a:r>
                        <a:rPr lang="de-CH" sz="1800"/>
                        <a:t>Qualitätssicherungs</a:t>
                      </a:r>
                      <a:r>
                        <a:rPr lang="de-CH" sz="1800"/>
                        <a:t> Massnahmen 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5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de-CH" sz="1800"/>
                        <a:t>Verwendete Technologien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6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de-CH" sz="1800"/>
                        <a:t>Progress Report - Fortschrittsbericht 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334800" y="404813"/>
            <a:ext cx="11521800" cy="75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CHESS MANIA! - Ziele, Regeln und Mechaniken </a:t>
            </a:r>
            <a:endParaRPr/>
          </a:p>
        </p:txBody>
      </p:sp>
      <p:sp>
        <p:nvSpPr>
          <p:cNvPr id="133" name="Google Shape;133;p17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34" name="Google Shape;134;p17"/>
          <p:cNvSpPr txBox="1"/>
          <p:nvPr>
            <p:ph idx="1" type="body"/>
          </p:nvPr>
        </p:nvSpPr>
        <p:spPr>
          <a:xfrm>
            <a:off x="334800" y="1520826"/>
            <a:ext cx="11521800" cy="47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>
                <a:solidFill>
                  <a:srgbClr val="000000"/>
                </a:solidFill>
              </a:rPr>
              <a:t>Schachspiel für 4 Personen</a:t>
            </a:r>
            <a:endParaRPr b="1" sz="1900" u="sng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2 Teams à 2 Personen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Rot, Blau, Gelb und Grün (im Uhrzeigersinn)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Teammitglieder</a:t>
            </a:r>
            <a:r>
              <a:rPr lang="de-CH"/>
              <a:t> sind sich gegenüber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Ziel</a:t>
            </a:r>
            <a:endParaRPr b="1" sz="19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So viele Gegner Figuren wie möglich einsammeln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Am Ende mehr Punkte haben als das Gegner Team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Sich selbst und Partner schützen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Schnelles Denken und Handeln</a:t>
            </a:r>
            <a:endParaRPr/>
          </a:p>
        </p:txBody>
      </p:sp>
      <p:pic>
        <p:nvPicPr>
          <p:cNvPr id="135" name="Google Shape;13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0262" y="1642000"/>
            <a:ext cx="4494124" cy="4357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42" name="Google Shape;142;p18"/>
          <p:cNvSpPr txBox="1"/>
          <p:nvPr>
            <p:ph idx="1" type="body"/>
          </p:nvPr>
        </p:nvSpPr>
        <p:spPr>
          <a:xfrm>
            <a:off x="334800" y="1520826"/>
            <a:ext cx="11521800" cy="47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Figuren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875" y="2810700"/>
            <a:ext cx="2737750" cy="328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9525" y="2723600"/>
            <a:ext cx="2779881" cy="328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7950" y="2809726"/>
            <a:ext cx="2648975" cy="3118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52" name="Google Shape;152;p19"/>
          <p:cNvSpPr txBox="1"/>
          <p:nvPr>
            <p:ph idx="1" type="body"/>
          </p:nvPr>
        </p:nvSpPr>
        <p:spPr>
          <a:xfrm>
            <a:off x="334800" y="1520826"/>
            <a:ext cx="11521800" cy="47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Figuren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875" y="2799800"/>
            <a:ext cx="2722230" cy="310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9413" y="2809735"/>
            <a:ext cx="2722225" cy="307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7975" y="2809735"/>
            <a:ext cx="2722225" cy="3118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62" name="Google Shape;162;p20"/>
          <p:cNvSpPr txBox="1"/>
          <p:nvPr>
            <p:ph idx="4294967295" type="body"/>
          </p:nvPr>
        </p:nvSpPr>
        <p:spPr>
          <a:xfrm>
            <a:off x="335100" y="1520825"/>
            <a:ext cx="11521800" cy="45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Regeln</a:t>
            </a:r>
            <a:endParaRPr b="1" sz="19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Ein Spiel dauert 5 Minuten (Spiel-Timer)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Jeder Spieler hat 10 Sekunden um seinen Zug auszuführen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Sollte dies nicht innerhalb dieser Frist geschehen, wird das Zugrecht an den nächsten Spieler übergeben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Spiel endet nach 5 Minuten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Das Team mit den meisten Punkten gewinnt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Spiel endet automatisch wenn ein König vom gegnerischen Team eingenommen wird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Obwohl der Fall eines Königs nicht zu unterschätzen ist, zählt am Ende als Sieger wer die meisten Punkte erhält.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69" name="Google Shape;169;p21"/>
          <p:cNvSpPr txBox="1"/>
          <p:nvPr>
            <p:ph idx="1" type="body"/>
          </p:nvPr>
        </p:nvSpPr>
        <p:spPr>
          <a:xfrm>
            <a:off x="334800" y="1520826"/>
            <a:ext cx="11521800" cy="47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Regeln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Schachmatt wurde ersetzt durch das “Einsammeln” des Königs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Könige können jedoch immer noch in “check” gesetzt werden und dürfen keine Züge machen, die sie in Gefahr bringen würden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Falls ein König in Check ist, dürfen die verbündeten Figuren nur Züge unternehmen, die ihren König aus dem Check herausholen.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334800" y="1520826"/>
            <a:ext cx="11521800" cy="47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Mechaniken </a:t>
            </a:r>
            <a:endParaRPr b="1" sz="19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 Punktetabelle: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König ist sehr wertvoll und muss gut beschützt werden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Spiel endet nachdem ein König genommen wurde oder die Spielzeit </a:t>
            </a:r>
            <a:r>
              <a:rPr lang="de-CH"/>
              <a:t>zu ende</a:t>
            </a:r>
            <a:r>
              <a:rPr lang="de-CH"/>
              <a:t> ist.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Ein Pawn promoviert zu einer Queen wenn er die Hälfte des Brettes überquert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Fake Queens sind nicht unterscheidbar, jedoch weitaus weniger Wert als die normalen Queens</a:t>
            </a:r>
            <a:endParaRPr/>
          </a:p>
        </p:txBody>
      </p:sp>
      <p:graphicFrame>
        <p:nvGraphicFramePr>
          <p:cNvPr id="177" name="Google Shape;177;p22"/>
          <p:cNvGraphicFramePr/>
          <p:nvPr/>
        </p:nvGraphicFramePr>
        <p:xfrm>
          <a:off x="887288" y="25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{850CB930-9DEF-422F-A9D8-26309C5527E7}</a:tableStyleId>
              </a:tblPr>
              <a:tblGrid>
                <a:gridCol w="1488200"/>
                <a:gridCol w="1488200"/>
                <a:gridCol w="1488200"/>
                <a:gridCol w="1488200"/>
                <a:gridCol w="1488200"/>
                <a:gridCol w="1488200"/>
                <a:gridCol w="1488200"/>
              </a:tblGrid>
              <a:tr h="751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-CH" sz="1500"/>
                        <a:t>Pawn</a:t>
                      </a:r>
                      <a:endParaRPr b="1" sz="15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-CH" sz="1500"/>
                        <a:t>Promoted Pawn</a:t>
                      </a:r>
                      <a:endParaRPr b="1" sz="15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-CH" sz="1100"/>
                        <a:t>(Fake Queen)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-CH" sz="1500"/>
                        <a:t>Knight</a:t>
                      </a:r>
                      <a:endParaRPr b="1" sz="15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-CH" sz="1500"/>
                        <a:t>Rook</a:t>
                      </a:r>
                      <a:endParaRPr b="1" sz="15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-CH" sz="1500"/>
                        <a:t>Bishop</a:t>
                      </a:r>
                      <a:endParaRPr b="1" sz="15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-CH" sz="1500"/>
                        <a:t>Queen</a:t>
                      </a:r>
                      <a:endParaRPr b="1" sz="15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-CH" sz="1500"/>
                        <a:t>King</a:t>
                      </a:r>
                      <a:endParaRPr b="1" sz="15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1 Punkt</a:t>
                      </a:r>
                      <a:endParaRPr sz="1600"/>
                    </a:p>
                  </a:txBody>
                  <a:tcPr marT="91425" marB="91425" marR="91425" marL="91425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1 Punkt</a:t>
                      </a:r>
                      <a:endParaRPr sz="1600"/>
                    </a:p>
                  </a:txBody>
                  <a:tcPr marT="91425" marB="91425" marR="91425" marL="91425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3 Punkte</a:t>
                      </a:r>
                      <a:endParaRPr sz="1600"/>
                    </a:p>
                  </a:txBody>
                  <a:tcPr marT="91425" marB="91425" marR="91425" marL="91425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5 Punkte</a:t>
                      </a:r>
                      <a:endParaRPr sz="1600"/>
                    </a:p>
                  </a:txBody>
                  <a:tcPr marT="91425" marB="91425" marR="91425" marL="91425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5 Punkte</a:t>
                      </a:r>
                      <a:endParaRPr sz="1600"/>
                    </a:p>
                  </a:txBody>
                  <a:tcPr marT="91425" marB="91425" marR="91425" marL="91425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9 Punkte</a:t>
                      </a:r>
                      <a:endParaRPr sz="1600"/>
                    </a:p>
                  </a:txBody>
                  <a:tcPr marT="91425" marB="91425" marR="91425" marL="91425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/>
                        <a:t>20 Punkte</a:t>
                      </a:r>
                      <a:endParaRPr sz="1600"/>
                    </a:p>
                  </a:txBody>
                  <a:tcPr marT="91425" marB="91425" marR="91425" marL="91425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type="title"/>
          </p:nvPr>
        </p:nvSpPr>
        <p:spPr>
          <a:xfrm>
            <a:off x="335360" y="404813"/>
            <a:ext cx="115212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de-CH"/>
              <a:t>Inhaltsangabe</a:t>
            </a:r>
            <a:endParaRPr/>
          </a:p>
        </p:txBody>
      </p:sp>
      <p:sp>
        <p:nvSpPr>
          <p:cNvPr id="183" name="Google Shape;183;p23"/>
          <p:cNvSpPr txBox="1"/>
          <p:nvPr>
            <p:ph idx="11" type="ftr"/>
          </p:nvPr>
        </p:nvSpPr>
        <p:spPr>
          <a:xfrm>
            <a:off x="9120682" y="6525344"/>
            <a:ext cx="2544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Universität Basel</a:t>
            </a:r>
            <a:endParaRPr/>
          </a:p>
        </p:txBody>
      </p:sp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graphicFrame>
        <p:nvGraphicFramePr>
          <p:cNvPr id="185" name="Google Shape;185;p23"/>
          <p:cNvGraphicFramePr/>
          <p:nvPr/>
        </p:nvGraphicFramePr>
        <p:xfrm>
          <a:off x="334963" y="15259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{BEBEC4AB-648B-497B-B5CD-FC7CF10A4E88}</a:tableStyleId>
              </a:tblPr>
              <a:tblGrid>
                <a:gridCol w="650900"/>
                <a:gridCol w="108707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 u="none" cap="none" strike="noStrike"/>
                        <a:t>1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CHESS MANIA! - Ziele, Regeln und Mechaniken 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2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Repräsentation des Spielstandes und der Spiellogik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3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Demo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4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Software-Qualitätssicherungs Massnahmen 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5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Verwendete Technologien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6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Progress Report - Fortschrittsbericht 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/>
          <p:nvPr/>
        </p:nvSpPr>
        <p:spPr>
          <a:xfrm>
            <a:off x="669183" y="5143350"/>
            <a:ext cx="733200" cy="4350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200"/>
              <a:t>Game</a:t>
            </a:r>
            <a:endParaRPr b="1" sz="1200"/>
          </a:p>
        </p:txBody>
      </p:sp>
      <p:sp>
        <p:nvSpPr>
          <p:cNvPr id="192" name="Google Shape;192;p24"/>
          <p:cNvSpPr txBox="1"/>
          <p:nvPr>
            <p:ph type="title"/>
          </p:nvPr>
        </p:nvSpPr>
        <p:spPr>
          <a:xfrm>
            <a:off x="335410" y="626463"/>
            <a:ext cx="11521200" cy="75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Repräsentation des Spielstandes und der Spiellogik </a:t>
            </a:r>
            <a:endParaRPr/>
          </a:p>
        </p:txBody>
      </p:sp>
      <p:sp>
        <p:nvSpPr>
          <p:cNvPr id="193" name="Google Shape;193;p24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194" name="Google Shape;194;p24"/>
          <p:cNvSpPr/>
          <p:nvPr/>
        </p:nvSpPr>
        <p:spPr>
          <a:xfrm>
            <a:off x="5029725" y="4562625"/>
            <a:ext cx="1589700" cy="834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ChessBoard</a:t>
            </a:r>
            <a:endParaRPr b="1" sz="1700"/>
          </a:p>
        </p:txBody>
      </p:sp>
      <p:sp>
        <p:nvSpPr>
          <p:cNvPr id="195" name="Google Shape;195;p24"/>
          <p:cNvSpPr/>
          <p:nvPr/>
        </p:nvSpPr>
        <p:spPr>
          <a:xfrm>
            <a:off x="7900850" y="1325825"/>
            <a:ext cx="1134600" cy="590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Squares</a:t>
            </a:r>
            <a:endParaRPr b="1" sz="1700"/>
          </a:p>
        </p:txBody>
      </p:sp>
      <p:sp>
        <p:nvSpPr>
          <p:cNvPr id="196" name="Google Shape;196;p24"/>
          <p:cNvSpPr/>
          <p:nvPr/>
        </p:nvSpPr>
        <p:spPr>
          <a:xfrm>
            <a:off x="9129150" y="1325825"/>
            <a:ext cx="1134600" cy="590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Squares</a:t>
            </a:r>
            <a:endParaRPr b="1" sz="1700"/>
          </a:p>
        </p:txBody>
      </p:sp>
      <p:sp>
        <p:nvSpPr>
          <p:cNvPr id="197" name="Google Shape;197;p24"/>
          <p:cNvSpPr/>
          <p:nvPr/>
        </p:nvSpPr>
        <p:spPr>
          <a:xfrm>
            <a:off x="10357450" y="1325825"/>
            <a:ext cx="1134600" cy="590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Squares</a:t>
            </a:r>
            <a:endParaRPr b="1" sz="1700"/>
          </a:p>
        </p:txBody>
      </p:sp>
      <p:sp>
        <p:nvSpPr>
          <p:cNvPr id="198" name="Google Shape;198;p24"/>
          <p:cNvSpPr/>
          <p:nvPr/>
        </p:nvSpPr>
        <p:spPr>
          <a:xfrm>
            <a:off x="7900850" y="2012775"/>
            <a:ext cx="1134600" cy="590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Squares</a:t>
            </a:r>
            <a:endParaRPr b="1" sz="1700"/>
          </a:p>
        </p:txBody>
      </p:sp>
      <p:sp>
        <p:nvSpPr>
          <p:cNvPr id="199" name="Google Shape;199;p24"/>
          <p:cNvSpPr/>
          <p:nvPr/>
        </p:nvSpPr>
        <p:spPr>
          <a:xfrm>
            <a:off x="9129150" y="2012775"/>
            <a:ext cx="1134600" cy="590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Squares</a:t>
            </a:r>
            <a:endParaRPr b="1" sz="1700"/>
          </a:p>
        </p:txBody>
      </p:sp>
      <p:sp>
        <p:nvSpPr>
          <p:cNvPr id="200" name="Google Shape;200;p24"/>
          <p:cNvSpPr/>
          <p:nvPr/>
        </p:nvSpPr>
        <p:spPr>
          <a:xfrm>
            <a:off x="10357450" y="2012775"/>
            <a:ext cx="1134600" cy="590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Squares</a:t>
            </a:r>
            <a:endParaRPr b="1" sz="1700"/>
          </a:p>
        </p:txBody>
      </p:sp>
      <p:sp>
        <p:nvSpPr>
          <p:cNvPr id="201" name="Google Shape;201;p24"/>
          <p:cNvSpPr/>
          <p:nvPr/>
        </p:nvSpPr>
        <p:spPr>
          <a:xfrm>
            <a:off x="7900850" y="2699725"/>
            <a:ext cx="1134600" cy="590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Squares</a:t>
            </a:r>
            <a:endParaRPr b="1" sz="1700"/>
          </a:p>
        </p:txBody>
      </p:sp>
      <p:sp>
        <p:nvSpPr>
          <p:cNvPr id="202" name="Google Shape;202;p24"/>
          <p:cNvSpPr/>
          <p:nvPr/>
        </p:nvSpPr>
        <p:spPr>
          <a:xfrm>
            <a:off x="9129150" y="2699725"/>
            <a:ext cx="1134600" cy="590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Squares</a:t>
            </a:r>
            <a:endParaRPr b="1" sz="1700"/>
          </a:p>
        </p:txBody>
      </p:sp>
      <p:sp>
        <p:nvSpPr>
          <p:cNvPr id="203" name="Google Shape;203;p24"/>
          <p:cNvSpPr/>
          <p:nvPr/>
        </p:nvSpPr>
        <p:spPr>
          <a:xfrm>
            <a:off x="10357450" y="2699725"/>
            <a:ext cx="1134600" cy="590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Squares</a:t>
            </a:r>
            <a:endParaRPr b="1" sz="1700"/>
          </a:p>
        </p:txBody>
      </p:sp>
      <p:sp>
        <p:nvSpPr>
          <p:cNvPr id="204" name="Google Shape;204;p24"/>
          <p:cNvSpPr txBox="1"/>
          <p:nvPr/>
        </p:nvSpPr>
        <p:spPr>
          <a:xfrm>
            <a:off x="8752800" y="3527950"/>
            <a:ext cx="188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800"/>
              <a:t>14 x 14</a:t>
            </a:r>
            <a:endParaRPr b="1"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800"/>
              <a:t>160 Spielbare</a:t>
            </a:r>
            <a:endParaRPr b="1" sz="1800"/>
          </a:p>
        </p:txBody>
      </p:sp>
      <p:cxnSp>
        <p:nvCxnSpPr>
          <p:cNvPr id="205" name="Google Shape;205;p24"/>
          <p:cNvCxnSpPr>
            <a:stCxn id="195" idx="1"/>
            <a:endCxn id="194" idx="3"/>
          </p:cNvCxnSpPr>
          <p:nvPr/>
        </p:nvCxnSpPr>
        <p:spPr>
          <a:xfrm flipH="1">
            <a:off x="6619550" y="1621175"/>
            <a:ext cx="1281300" cy="335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" name="Google Shape;206;p24"/>
          <p:cNvCxnSpPr>
            <a:stCxn id="198" idx="1"/>
            <a:endCxn id="194" idx="3"/>
          </p:cNvCxnSpPr>
          <p:nvPr/>
        </p:nvCxnSpPr>
        <p:spPr>
          <a:xfrm flipH="1">
            <a:off x="6619550" y="2308125"/>
            <a:ext cx="1281300" cy="267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24"/>
          <p:cNvCxnSpPr>
            <a:stCxn id="197" idx="1"/>
            <a:endCxn id="194" idx="3"/>
          </p:cNvCxnSpPr>
          <p:nvPr/>
        </p:nvCxnSpPr>
        <p:spPr>
          <a:xfrm flipH="1">
            <a:off x="6619450" y="1621175"/>
            <a:ext cx="3738000" cy="335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24"/>
          <p:cNvCxnSpPr>
            <a:stCxn id="196" idx="2"/>
            <a:endCxn id="194" idx="3"/>
          </p:cNvCxnSpPr>
          <p:nvPr/>
        </p:nvCxnSpPr>
        <p:spPr>
          <a:xfrm flipH="1">
            <a:off x="6619350" y="1916525"/>
            <a:ext cx="3077100" cy="306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4"/>
          <p:cNvCxnSpPr>
            <a:endCxn id="194" idx="3"/>
          </p:cNvCxnSpPr>
          <p:nvPr/>
        </p:nvCxnSpPr>
        <p:spPr>
          <a:xfrm flipH="1">
            <a:off x="6619425" y="2711325"/>
            <a:ext cx="3619800" cy="226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24"/>
          <p:cNvCxnSpPr>
            <a:stCxn id="200" idx="1"/>
            <a:endCxn id="194" idx="3"/>
          </p:cNvCxnSpPr>
          <p:nvPr/>
        </p:nvCxnSpPr>
        <p:spPr>
          <a:xfrm flipH="1">
            <a:off x="6619450" y="2308125"/>
            <a:ext cx="3738000" cy="267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24"/>
          <p:cNvCxnSpPr>
            <a:stCxn id="203" idx="1"/>
            <a:endCxn id="194" idx="3"/>
          </p:cNvCxnSpPr>
          <p:nvPr/>
        </p:nvCxnSpPr>
        <p:spPr>
          <a:xfrm flipH="1">
            <a:off x="6619450" y="2995075"/>
            <a:ext cx="3738000" cy="198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24"/>
          <p:cNvCxnSpPr>
            <a:stCxn id="202" idx="1"/>
            <a:endCxn id="194" idx="3"/>
          </p:cNvCxnSpPr>
          <p:nvPr/>
        </p:nvCxnSpPr>
        <p:spPr>
          <a:xfrm flipH="1">
            <a:off x="6619350" y="2995075"/>
            <a:ext cx="2509800" cy="198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24"/>
          <p:cNvCxnSpPr>
            <a:stCxn id="194" idx="1"/>
          </p:cNvCxnSpPr>
          <p:nvPr/>
        </p:nvCxnSpPr>
        <p:spPr>
          <a:xfrm flipH="1">
            <a:off x="3195525" y="4979925"/>
            <a:ext cx="1834200" cy="6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" name="Google Shape;214;p24"/>
          <p:cNvSpPr/>
          <p:nvPr/>
        </p:nvSpPr>
        <p:spPr>
          <a:xfrm>
            <a:off x="4948118" y="2619443"/>
            <a:ext cx="1752900" cy="706200"/>
          </a:xfrm>
          <a:prstGeom prst="ellipse">
            <a:avLst/>
          </a:prstGeom>
          <a:solidFill>
            <a:srgbClr val="88888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800"/>
              <a:t>Pieces</a:t>
            </a:r>
            <a:endParaRPr b="1"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800"/>
              <a:t>(abstract)</a:t>
            </a:r>
            <a:endParaRPr b="1" sz="1800"/>
          </a:p>
        </p:txBody>
      </p:sp>
      <p:sp>
        <p:nvSpPr>
          <p:cNvPr id="215" name="Google Shape;215;p24"/>
          <p:cNvSpPr/>
          <p:nvPr/>
        </p:nvSpPr>
        <p:spPr>
          <a:xfrm>
            <a:off x="4251602" y="1098459"/>
            <a:ext cx="952500" cy="40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King</a:t>
            </a:r>
            <a:endParaRPr b="1" sz="1700"/>
          </a:p>
        </p:txBody>
      </p:sp>
      <p:sp>
        <p:nvSpPr>
          <p:cNvPr id="216" name="Google Shape;216;p24"/>
          <p:cNvSpPr/>
          <p:nvPr/>
        </p:nvSpPr>
        <p:spPr>
          <a:xfrm>
            <a:off x="9271600" y="5191325"/>
            <a:ext cx="1589700" cy="834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GameStatus</a:t>
            </a:r>
            <a:endParaRPr b="1" sz="1700"/>
          </a:p>
        </p:txBody>
      </p:sp>
      <p:sp>
        <p:nvSpPr>
          <p:cNvPr id="217" name="Google Shape;217;p24"/>
          <p:cNvSpPr/>
          <p:nvPr/>
        </p:nvSpPr>
        <p:spPr>
          <a:xfrm>
            <a:off x="5353386" y="1098459"/>
            <a:ext cx="952500" cy="40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Queen</a:t>
            </a:r>
            <a:endParaRPr b="1" sz="1700"/>
          </a:p>
        </p:txBody>
      </p:sp>
      <p:sp>
        <p:nvSpPr>
          <p:cNvPr id="218" name="Google Shape;218;p24"/>
          <p:cNvSpPr/>
          <p:nvPr/>
        </p:nvSpPr>
        <p:spPr>
          <a:xfrm>
            <a:off x="6465274" y="1085825"/>
            <a:ext cx="952500" cy="40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Pawn</a:t>
            </a:r>
            <a:endParaRPr b="1" sz="1700"/>
          </a:p>
        </p:txBody>
      </p:sp>
      <p:sp>
        <p:nvSpPr>
          <p:cNvPr id="219" name="Google Shape;219;p24"/>
          <p:cNvSpPr/>
          <p:nvPr/>
        </p:nvSpPr>
        <p:spPr>
          <a:xfrm>
            <a:off x="4246550" y="1642742"/>
            <a:ext cx="952500" cy="40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Bishop</a:t>
            </a:r>
            <a:endParaRPr b="1" sz="1700"/>
          </a:p>
        </p:txBody>
      </p:sp>
      <p:sp>
        <p:nvSpPr>
          <p:cNvPr id="220" name="Google Shape;220;p24"/>
          <p:cNvSpPr/>
          <p:nvPr/>
        </p:nvSpPr>
        <p:spPr>
          <a:xfrm>
            <a:off x="5348335" y="1642742"/>
            <a:ext cx="952500" cy="40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Rook</a:t>
            </a:r>
            <a:endParaRPr b="1" sz="1700"/>
          </a:p>
        </p:txBody>
      </p:sp>
      <p:sp>
        <p:nvSpPr>
          <p:cNvPr id="221" name="Google Shape;221;p24"/>
          <p:cNvSpPr/>
          <p:nvPr/>
        </p:nvSpPr>
        <p:spPr>
          <a:xfrm>
            <a:off x="6460223" y="1630108"/>
            <a:ext cx="952500" cy="40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Knight</a:t>
            </a:r>
            <a:endParaRPr b="1" sz="1700"/>
          </a:p>
        </p:txBody>
      </p:sp>
      <p:cxnSp>
        <p:nvCxnSpPr>
          <p:cNvPr id="222" name="Google Shape;222;p24"/>
          <p:cNvCxnSpPr>
            <a:stCxn id="214" idx="0"/>
            <a:endCxn id="220" idx="2"/>
          </p:cNvCxnSpPr>
          <p:nvPr/>
        </p:nvCxnSpPr>
        <p:spPr>
          <a:xfrm rot="10800000">
            <a:off x="5824568" y="2049143"/>
            <a:ext cx="0" cy="57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24"/>
          <p:cNvCxnSpPr>
            <a:stCxn id="224" idx="0"/>
            <a:endCxn id="225" idx="2"/>
          </p:cNvCxnSpPr>
          <p:nvPr/>
        </p:nvCxnSpPr>
        <p:spPr>
          <a:xfrm flipH="1" rot="10800000">
            <a:off x="2106600" y="1585816"/>
            <a:ext cx="992700" cy="7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24"/>
          <p:cNvCxnSpPr>
            <a:stCxn id="214" idx="7"/>
            <a:endCxn id="221" idx="2"/>
          </p:cNvCxnSpPr>
          <p:nvPr/>
        </p:nvCxnSpPr>
        <p:spPr>
          <a:xfrm flipH="1" rot="10800000">
            <a:off x="6444312" y="2036464"/>
            <a:ext cx="492300" cy="68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4"/>
          <p:cNvCxnSpPr/>
          <p:nvPr/>
        </p:nvCxnSpPr>
        <p:spPr>
          <a:xfrm rot="10800000">
            <a:off x="4999025" y="1487418"/>
            <a:ext cx="477000" cy="114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p24"/>
          <p:cNvCxnSpPr/>
          <p:nvPr/>
        </p:nvCxnSpPr>
        <p:spPr>
          <a:xfrm flipH="1" rot="10800000">
            <a:off x="6167466" y="1463285"/>
            <a:ext cx="560100" cy="118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24"/>
          <p:cNvCxnSpPr>
            <a:stCxn id="214" idx="0"/>
            <a:endCxn id="217" idx="2"/>
          </p:cNvCxnSpPr>
          <p:nvPr/>
        </p:nvCxnSpPr>
        <p:spPr>
          <a:xfrm flipH="1" rot="10800000">
            <a:off x="5824568" y="1504943"/>
            <a:ext cx="5100" cy="111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4"/>
          <p:cNvCxnSpPr>
            <a:stCxn id="218" idx="3"/>
            <a:endCxn id="195" idx="1"/>
          </p:cNvCxnSpPr>
          <p:nvPr/>
        </p:nvCxnSpPr>
        <p:spPr>
          <a:xfrm>
            <a:off x="7417774" y="1289075"/>
            <a:ext cx="483000" cy="33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24"/>
          <p:cNvCxnSpPr>
            <a:stCxn id="216" idx="1"/>
            <a:endCxn id="232" idx="3"/>
          </p:cNvCxnSpPr>
          <p:nvPr/>
        </p:nvCxnSpPr>
        <p:spPr>
          <a:xfrm flipH="1">
            <a:off x="3218500" y="5608625"/>
            <a:ext cx="60531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" name="Google Shape;233;p24"/>
          <p:cNvSpPr/>
          <p:nvPr/>
        </p:nvSpPr>
        <p:spPr>
          <a:xfrm>
            <a:off x="1290833" y="4886700"/>
            <a:ext cx="733200" cy="4350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200"/>
              <a:t>Game</a:t>
            </a:r>
            <a:endParaRPr b="1" sz="1200"/>
          </a:p>
        </p:txBody>
      </p:sp>
      <p:sp>
        <p:nvSpPr>
          <p:cNvPr id="232" name="Google Shape;232;p24"/>
          <p:cNvSpPr/>
          <p:nvPr/>
        </p:nvSpPr>
        <p:spPr>
          <a:xfrm>
            <a:off x="1811350" y="5200275"/>
            <a:ext cx="1407000" cy="8346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800"/>
              <a:t>Game</a:t>
            </a:r>
            <a:endParaRPr b="1" sz="1800"/>
          </a:p>
        </p:txBody>
      </p:sp>
      <p:sp>
        <p:nvSpPr>
          <p:cNvPr id="234" name="Google Shape;234;p24"/>
          <p:cNvSpPr/>
          <p:nvPr/>
        </p:nvSpPr>
        <p:spPr>
          <a:xfrm>
            <a:off x="1221033" y="5802300"/>
            <a:ext cx="733200" cy="4350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200"/>
              <a:t>Game</a:t>
            </a:r>
            <a:endParaRPr b="1" sz="1200"/>
          </a:p>
        </p:txBody>
      </p:sp>
      <p:sp>
        <p:nvSpPr>
          <p:cNvPr id="224" name="Google Shape;224;p24"/>
          <p:cNvSpPr/>
          <p:nvPr/>
        </p:nvSpPr>
        <p:spPr>
          <a:xfrm>
            <a:off x="1230150" y="2351116"/>
            <a:ext cx="1752900" cy="9543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Server</a:t>
            </a:r>
            <a:endParaRPr b="1" sz="1700"/>
          </a:p>
        </p:txBody>
      </p:sp>
      <p:sp>
        <p:nvSpPr>
          <p:cNvPr id="235" name="Google Shape;235;p24"/>
          <p:cNvSpPr/>
          <p:nvPr/>
        </p:nvSpPr>
        <p:spPr>
          <a:xfrm>
            <a:off x="752375" y="3681525"/>
            <a:ext cx="1214700" cy="5703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Lobbies</a:t>
            </a:r>
            <a:endParaRPr b="1"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900"/>
              <a:t>LobbyID</a:t>
            </a:r>
            <a:endParaRPr b="1" sz="900"/>
          </a:p>
        </p:txBody>
      </p:sp>
      <p:sp>
        <p:nvSpPr>
          <p:cNvPr id="236" name="Google Shape;236;p24"/>
          <p:cNvSpPr/>
          <p:nvPr/>
        </p:nvSpPr>
        <p:spPr>
          <a:xfrm>
            <a:off x="2339538" y="3545125"/>
            <a:ext cx="1214700" cy="435000"/>
          </a:xfrm>
          <a:prstGeom prst="rect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200"/>
              <a:t>Lobby Clients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000"/>
              <a:t>ClientID</a:t>
            </a:r>
            <a:endParaRPr b="1" sz="1000"/>
          </a:p>
        </p:txBody>
      </p:sp>
      <p:sp>
        <p:nvSpPr>
          <p:cNvPr id="237" name="Google Shape;237;p24"/>
          <p:cNvSpPr/>
          <p:nvPr/>
        </p:nvSpPr>
        <p:spPr>
          <a:xfrm>
            <a:off x="588550" y="3804375"/>
            <a:ext cx="1214700" cy="5703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Lobbies</a:t>
            </a:r>
            <a:endParaRPr b="1"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900"/>
              <a:t>LobbyID</a:t>
            </a:r>
            <a:endParaRPr b="1" sz="900"/>
          </a:p>
        </p:txBody>
      </p:sp>
      <p:sp>
        <p:nvSpPr>
          <p:cNvPr id="238" name="Google Shape;238;p24"/>
          <p:cNvSpPr/>
          <p:nvPr/>
        </p:nvSpPr>
        <p:spPr>
          <a:xfrm>
            <a:off x="456775" y="3952900"/>
            <a:ext cx="1214700" cy="5703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700"/>
              <a:t>Lobbies</a:t>
            </a:r>
            <a:endParaRPr b="1"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900"/>
              <a:t>LobbyID</a:t>
            </a:r>
            <a:endParaRPr b="1" sz="900"/>
          </a:p>
        </p:txBody>
      </p:sp>
      <p:sp>
        <p:nvSpPr>
          <p:cNvPr id="239" name="Google Shape;239;p24"/>
          <p:cNvSpPr/>
          <p:nvPr/>
        </p:nvSpPr>
        <p:spPr>
          <a:xfrm>
            <a:off x="2491938" y="3697525"/>
            <a:ext cx="1214700" cy="435000"/>
          </a:xfrm>
          <a:prstGeom prst="rect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200"/>
              <a:t>Lobby Clients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000"/>
              <a:t>ClientID</a:t>
            </a:r>
            <a:endParaRPr b="1" sz="1000"/>
          </a:p>
        </p:txBody>
      </p:sp>
      <p:sp>
        <p:nvSpPr>
          <p:cNvPr id="240" name="Google Shape;240;p24"/>
          <p:cNvSpPr/>
          <p:nvPr/>
        </p:nvSpPr>
        <p:spPr>
          <a:xfrm>
            <a:off x="2644338" y="3849925"/>
            <a:ext cx="1214700" cy="435000"/>
          </a:xfrm>
          <a:prstGeom prst="rect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200"/>
              <a:t>Lobby Clients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000"/>
              <a:t>ClientID</a:t>
            </a:r>
            <a:endParaRPr b="1" sz="1000"/>
          </a:p>
        </p:txBody>
      </p:sp>
      <p:sp>
        <p:nvSpPr>
          <p:cNvPr id="241" name="Google Shape;241;p24"/>
          <p:cNvSpPr/>
          <p:nvPr/>
        </p:nvSpPr>
        <p:spPr>
          <a:xfrm>
            <a:off x="2796738" y="4002325"/>
            <a:ext cx="1214700" cy="435000"/>
          </a:xfrm>
          <a:prstGeom prst="rect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200"/>
              <a:t>Lobby Clients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000"/>
              <a:t>ClientID</a:t>
            </a:r>
            <a:endParaRPr b="1" sz="1000"/>
          </a:p>
        </p:txBody>
      </p:sp>
      <p:cxnSp>
        <p:nvCxnSpPr>
          <p:cNvPr id="242" name="Google Shape;242;p24"/>
          <p:cNvCxnSpPr>
            <a:stCxn id="236" idx="1"/>
            <a:endCxn id="238" idx="3"/>
          </p:cNvCxnSpPr>
          <p:nvPr/>
        </p:nvCxnSpPr>
        <p:spPr>
          <a:xfrm flipH="1">
            <a:off x="1671438" y="3762625"/>
            <a:ext cx="668100" cy="47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24"/>
          <p:cNvCxnSpPr>
            <a:stCxn id="239" idx="1"/>
            <a:endCxn id="238" idx="3"/>
          </p:cNvCxnSpPr>
          <p:nvPr/>
        </p:nvCxnSpPr>
        <p:spPr>
          <a:xfrm flipH="1">
            <a:off x="1671438" y="3915025"/>
            <a:ext cx="820500" cy="3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" name="Google Shape;244;p24"/>
          <p:cNvCxnSpPr>
            <a:stCxn id="240" idx="1"/>
            <a:endCxn id="238" idx="3"/>
          </p:cNvCxnSpPr>
          <p:nvPr/>
        </p:nvCxnSpPr>
        <p:spPr>
          <a:xfrm flipH="1">
            <a:off x="1671438" y="4067425"/>
            <a:ext cx="972900" cy="17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24"/>
          <p:cNvCxnSpPr>
            <a:stCxn id="241" idx="1"/>
            <a:endCxn id="238" idx="3"/>
          </p:cNvCxnSpPr>
          <p:nvPr/>
        </p:nvCxnSpPr>
        <p:spPr>
          <a:xfrm flipH="1">
            <a:off x="1671438" y="4219825"/>
            <a:ext cx="1125300" cy="1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24"/>
          <p:cNvCxnSpPr>
            <a:stCxn id="232" idx="0"/>
            <a:endCxn id="238" idx="2"/>
          </p:cNvCxnSpPr>
          <p:nvPr/>
        </p:nvCxnSpPr>
        <p:spPr>
          <a:xfrm rot="10800000">
            <a:off x="1064050" y="4523175"/>
            <a:ext cx="1450800" cy="67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" name="Google Shape;247;p24"/>
          <p:cNvSpPr/>
          <p:nvPr/>
        </p:nvSpPr>
        <p:spPr>
          <a:xfrm>
            <a:off x="184283" y="1303325"/>
            <a:ext cx="733200" cy="435000"/>
          </a:xfrm>
          <a:prstGeom prst="rect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200"/>
              <a:t>Client</a:t>
            </a:r>
            <a:endParaRPr b="1" sz="1200"/>
          </a:p>
        </p:txBody>
      </p:sp>
      <p:sp>
        <p:nvSpPr>
          <p:cNvPr id="248" name="Google Shape;248;p24"/>
          <p:cNvSpPr/>
          <p:nvPr/>
        </p:nvSpPr>
        <p:spPr>
          <a:xfrm>
            <a:off x="1801983" y="1306525"/>
            <a:ext cx="733200" cy="435000"/>
          </a:xfrm>
          <a:prstGeom prst="rect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200"/>
              <a:t>Client</a:t>
            </a:r>
            <a:endParaRPr b="1" sz="1200"/>
          </a:p>
        </p:txBody>
      </p:sp>
      <p:sp>
        <p:nvSpPr>
          <p:cNvPr id="225" name="Google Shape;225;p24"/>
          <p:cNvSpPr/>
          <p:nvPr/>
        </p:nvSpPr>
        <p:spPr>
          <a:xfrm>
            <a:off x="2732708" y="1150725"/>
            <a:ext cx="733200" cy="435000"/>
          </a:xfrm>
          <a:prstGeom prst="rect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200"/>
              <a:t>Client</a:t>
            </a:r>
            <a:endParaRPr b="1" sz="1200"/>
          </a:p>
        </p:txBody>
      </p:sp>
      <p:sp>
        <p:nvSpPr>
          <p:cNvPr id="249" name="Google Shape;249;p24"/>
          <p:cNvSpPr/>
          <p:nvPr/>
        </p:nvSpPr>
        <p:spPr>
          <a:xfrm>
            <a:off x="993133" y="1085825"/>
            <a:ext cx="733200" cy="435000"/>
          </a:xfrm>
          <a:prstGeom prst="rect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200"/>
              <a:t>Client</a:t>
            </a:r>
            <a:endParaRPr b="1" sz="1200"/>
          </a:p>
        </p:txBody>
      </p:sp>
      <p:cxnSp>
        <p:nvCxnSpPr>
          <p:cNvPr id="250" name="Google Shape;250;p24"/>
          <p:cNvCxnSpPr>
            <a:stCxn id="224" idx="0"/>
            <a:endCxn id="248" idx="2"/>
          </p:cNvCxnSpPr>
          <p:nvPr/>
        </p:nvCxnSpPr>
        <p:spPr>
          <a:xfrm flipH="1" rot="10800000">
            <a:off x="2106600" y="1741516"/>
            <a:ext cx="6210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24"/>
          <p:cNvCxnSpPr>
            <a:stCxn id="224" idx="0"/>
            <a:endCxn id="249" idx="2"/>
          </p:cNvCxnSpPr>
          <p:nvPr/>
        </p:nvCxnSpPr>
        <p:spPr>
          <a:xfrm rot="10800000">
            <a:off x="1359600" y="1520716"/>
            <a:ext cx="747000" cy="83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" name="Google Shape;252;p24"/>
          <p:cNvCxnSpPr>
            <a:stCxn id="224" idx="0"/>
            <a:endCxn id="247" idx="2"/>
          </p:cNvCxnSpPr>
          <p:nvPr/>
        </p:nvCxnSpPr>
        <p:spPr>
          <a:xfrm rot="10800000">
            <a:off x="550800" y="1738216"/>
            <a:ext cx="1555800" cy="6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24"/>
          <p:cNvCxnSpPr>
            <a:stCxn id="235" idx="0"/>
            <a:endCxn id="224" idx="2"/>
          </p:cNvCxnSpPr>
          <p:nvPr/>
        </p:nvCxnSpPr>
        <p:spPr>
          <a:xfrm flipH="1" rot="10800000">
            <a:off x="1359725" y="3305325"/>
            <a:ext cx="74700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24"/>
          <p:cNvCxnSpPr>
            <a:stCxn id="237" idx="0"/>
            <a:endCxn id="224" idx="2"/>
          </p:cNvCxnSpPr>
          <p:nvPr/>
        </p:nvCxnSpPr>
        <p:spPr>
          <a:xfrm flipH="1" rot="10800000">
            <a:off x="1195900" y="3305475"/>
            <a:ext cx="910800" cy="49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24"/>
          <p:cNvCxnSpPr>
            <a:stCxn id="238" idx="0"/>
            <a:endCxn id="224" idx="2"/>
          </p:cNvCxnSpPr>
          <p:nvPr/>
        </p:nvCxnSpPr>
        <p:spPr>
          <a:xfrm flipH="1" rot="10800000">
            <a:off x="1064125" y="3305500"/>
            <a:ext cx="1042500" cy="64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" name="Google Shape;256;p24"/>
          <p:cNvSpPr/>
          <p:nvPr/>
        </p:nvSpPr>
        <p:spPr>
          <a:xfrm>
            <a:off x="3392887" y="1980425"/>
            <a:ext cx="560100" cy="249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100"/>
              <a:t>Move</a:t>
            </a:r>
            <a:endParaRPr b="1" sz="1100"/>
          </a:p>
        </p:txBody>
      </p:sp>
      <p:sp>
        <p:nvSpPr>
          <p:cNvPr id="257" name="Google Shape;257;p24"/>
          <p:cNvSpPr/>
          <p:nvPr/>
        </p:nvSpPr>
        <p:spPr>
          <a:xfrm>
            <a:off x="4082949" y="3389638"/>
            <a:ext cx="560100" cy="249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100"/>
              <a:t>Move</a:t>
            </a:r>
            <a:endParaRPr b="1" sz="1100"/>
          </a:p>
        </p:txBody>
      </p:sp>
      <p:cxnSp>
        <p:nvCxnSpPr>
          <p:cNvPr id="258" name="Google Shape;258;p24"/>
          <p:cNvCxnSpPr>
            <a:stCxn id="225" idx="3"/>
            <a:endCxn id="256" idx="0"/>
          </p:cNvCxnSpPr>
          <p:nvPr/>
        </p:nvCxnSpPr>
        <p:spPr>
          <a:xfrm>
            <a:off x="3465908" y="1368225"/>
            <a:ext cx="207000" cy="6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24"/>
          <p:cNvCxnSpPr>
            <a:stCxn id="256" idx="2"/>
            <a:endCxn id="224" idx="3"/>
          </p:cNvCxnSpPr>
          <p:nvPr/>
        </p:nvCxnSpPr>
        <p:spPr>
          <a:xfrm flipH="1">
            <a:off x="2982937" y="2230325"/>
            <a:ext cx="690000" cy="59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24"/>
          <p:cNvCxnSpPr>
            <a:stCxn id="224" idx="3"/>
            <a:endCxn id="257" idx="1"/>
          </p:cNvCxnSpPr>
          <p:nvPr/>
        </p:nvCxnSpPr>
        <p:spPr>
          <a:xfrm>
            <a:off x="2983050" y="2828266"/>
            <a:ext cx="1099800" cy="68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p24"/>
          <p:cNvCxnSpPr>
            <a:stCxn id="257" idx="3"/>
            <a:endCxn id="194" idx="0"/>
          </p:cNvCxnSpPr>
          <p:nvPr/>
        </p:nvCxnSpPr>
        <p:spPr>
          <a:xfrm>
            <a:off x="4643049" y="3514588"/>
            <a:ext cx="1181400" cy="104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24"/>
          <p:cNvCxnSpPr>
            <a:stCxn id="201" idx="1"/>
            <a:endCxn id="194" idx="3"/>
          </p:cNvCxnSpPr>
          <p:nvPr/>
        </p:nvCxnSpPr>
        <p:spPr>
          <a:xfrm flipH="1">
            <a:off x="6619550" y="2995075"/>
            <a:ext cx="1281300" cy="198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 txBox="1"/>
          <p:nvPr>
            <p:ph type="title"/>
          </p:nvPr>
        </p:nvSpPr>
        <p:spPr>
          <a:xfrm>
            <a:off x="335360" y="404813"/>
            <a:ext cx="115212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de-CH"/>
              <a:t>Inhaltsangabe</a:t>
            </a:r>
            <a:endParaRPr/>
          </a:p>
        </p:txBody>
      </p:sp>
      <p:sp>
        <p:nvSpPr>
          <p:cNvPr id="268" name="Google Shape;268;p25"/>
          <p:cNvSpPr txBox="1"/>
          <p:nvPr>
            <p:ph idx="11" type="ftr"/>
          </p:nvPr>
        </p:nvSpPr>
        <p:spPr>
          <a:xfrm>
            <a:off x="9120682" y="6525344"/>
            <a:ext cx="2544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Universität Basel</a:t>
            </a:r>
            <a:endParaRPr/>
          </a:p>
        </p:txBody>
      </p:sp>
      <p:sp>
        <p:nvSpPr>
          <p:cNvPr id="269" name="Google Shape;269;p25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graphicFrame>
        <p:nvGraphicFramePr>
          <p:cNvPr id="270" name="Google Shape;270;p25"/>
          <p:cNvGraphicFramePr/>
          <p:nvPr/>
        </p:nvGraphicFramePr>
        <p:xfrm>
          <a:off x="334963" y="15259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{BEBEC4AB-648B-497B-B5CD-FC7CF10A4E88}</a:tableStyleId>
              </a:tblPr>
              <a:tblGrid>
                <a:gridCol w="650900"/>
                <a:gridCol w="108707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 u="none" cap="none" strike="noStrike"/>
                        <a:t>1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CHESS MANIA! - Ziele, Regeln und Mechaniken 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2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Repräsentation des Spielstandes und der Spiellogik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3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Demo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4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Software-Qualitätssicherungs Massnahmen 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5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Verwendete Technologien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6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Progress Report - Fortschrittsbericht 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"/>
          <p:cNvSpPr txBox="1"/>
          <p:nvPr>
            <p:ph type="title"/>
          </p:nvPr>
        </p:nvSpPr>
        <p:spPr>
          <a:xfrm>
            <a:off x="335360" y="404813"/>
            <a:ext cx="11521200" cy="75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Demo</a:t>
            </a:r>
            <a:endParaRPr/>
          </a:p>
        </p:txBody>
      </p:sp>
      <p:sp>
        <p:nvSpPr>
          <p:cNvPr id="277" name="Google Shape;277;p26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pic>
        <p:nvPicPr>
          <p:cNvPr id="278" name="Google Shape;278;p26" title="ChessMania Dem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2738" y="993000"/>
            <a:ext cx="8426425" cy="48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"/>
          <p:cNvSpPr txBox="1"/>
          <p:nvPr>
            <p:ph type="title"/>
          </p:nvPr>
        </p:nvSpPr>
        <p:spPr>
          <a:xfrm>
            <a:off x="335360" y="404813"/>
            <a:ext cx="115212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de-CH"/>
              <a:t>Inhaltsangabe</a:t>
            </a:r>
            <a:endParaRPr/>
          </a:p>
        </p:txBody>
      </p:sp>
      <p:sp>
        <p:nvSpPr>
          <p:cNvPr id="284" name="Google Shape;284;p27"/>
          <p:cNvSpPr txBox="1"/>
          <p:nvPr>
            <p:ph idx="11" type="ftr"/>
          </p:nvPr>
        </p:nvSpPr>
        <p:spPr>
          <a:xfrm>
            <a:off x="9120682" y="6525344"/>
            <a:ext cx="2544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Universität Basel</a:t>
            </a:r>
            <a:endParaRPr/>
          </a:p>
        </p:txBody>
      </p:sp>
      <p:sp>
        <p:nvSpPr>
          <p:cNvPr id="285" name="Google Shape;285;p27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graphicFrame>
        <p:nvGraphicFramePr>
          <p:cNvPr id="286" name="Google Shape;286;p27"/>
          <p:cNvGraphicFramePr/>
          <p:nvPr/>
        </p:nvGraphicFramePr>
        <p:xfrm>
          <a:off x="334963" y="15259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{BEBEC4AB-648B-497B-B5CD-FC7CF10A4E88}</a:tableStyleId>
              </a:tblPr>
              <a:tblGrid>
                <a:gridCol w="650900"/>
                <a:gridCol w="108707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 u="none" cap="none" strike="noStrike"/>
                        <a:t>1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CHESS MANIA! - Ziele, Regeln und Mechaniken 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2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Repräsentation des Spielstandes und der Spiellogik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3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Demo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4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Software-Qualitätssicherungs Massnahmen 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5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Verwendete Technologien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6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Progress Report - Fortschrittsbericht 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/>
          <p:nvPr>
            <p:ph type="title"/>
          </p:nvPr>
        </p:nvSpPr>
        <p:spPr>
          <a:xfrm>
            <a:off x="334800" y="404813"/>
            <a:ext cx="11521800" cy="75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Software-Qualitätssicherungs Massnahmen </a:t>
            </a:r>
            <a:endParaRPr/>
          </a:p>
        </p:txBody>
      </p:sp>
      <p:sp>
        <p:nvSpPr>
          <p:cNvPr id="293" name="Google Shape;293;p28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294" name="Google Shape;294;p28"/>
          <p:cNvSpPr txBox="1"/>
          <p:nvPr>
            <p:ph idx="1" type="body"/>
          </p:nvPr>
        </p:nvSpPr>
        <p:spPr>
          <a:xfrm>
            <a:off x="334800" y="1520826"/>
            <a:ext cx="11521800" cy="47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Kommunikation</a:t>
            </a:r>
            <a:endParaRPr b="1" sz="19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Häufige ZOOM Meetings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Frühe Aufgabenverteilung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Erstellung eines neuen Boards auf Trello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Gantt Project Datei wird geupdated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Slack um Fragen zu stellen und sich auszutauschen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334800" y="1520826"/>
            <a:ext cx="11521800" cy="47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Code Erklären / Code Review</a:t>
            </a:r>
            <a:endParaRPr b="1" sz="19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Gegenseitiges Erklären von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Vermeiden von Missverständnissen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Code dokumentieren</a:t>
            </a:r>
            <a:endParaRPr b="1" sz="1900" u="sng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Wir benutzen javadoc um Funktionen und Methoden zu beschreiben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Dokumentation hilft besser zu verstehen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</p:txBody>
      </p:sp>
      <p:sp>
        <p:nvSpPr>
          <p:cNvPr id="301" name="Google Shape;301;p29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"/>
          <p:cNvSpPr txBox="1"/>
          <p:nvPr>
            <p:ph idx="1" type="body"/>
          </p:nvPr>
        </p:nvSpPr>
        <p:spPr>
          <a:xfrm>
            <a:off x="334800" y="1520826"/>
            <a:ext cx="11521800" cy="47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Bug Reports und Debugging</a:t>
            </a:r>
            <a:endParaRPr b="1" sz="19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Neue Bugs werden in einem Bug Report zusammengefasst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Bug Report enthält alle wichtigen Informationen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Sehr hilfreich für das </a:t>
            </a:r>
            <a:r>
              <a:rPr lang="de-CH"/>
              <a:t>Debuggen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Logging</a:t>
            </a:r>
            <a:endParaRPr b="1" sz="19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Wir benutzen log4j2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Besseres Error handling</a:t>
            </a:r>
            <a:endParaRPr/>
          </a:p>
        </p:txBody>
      </p:sp>
      <p:sp>
        <p:nvSpPr>
          <p:cNvPr id="308" name="Google Shape;308;p30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/>
          <p:nvPr>
            <p:ph idx="1" type="body"/>
          </p:nvPr>
        </p:nvSpPr>
        <p:spPr>
          <a:xfrm>
            <a:off x="334800" y="1520826"/>
            <a:ext cx="11521800" cy="47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Testen</a:t>
            </a:r>
            <a:endParaRPr b="1" sz="19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Wir testen unseren Code andauernd (White-Box Tes</a:t>
            </a:r>
            <a:r>
              <a:rPr lang="de-CH"/>
              <a:t>t / Black-Box Test</a:t>
            </a:r>
            <a:r>
              <a:rPr lang="de-CH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Sicherstellen das alles funktioniert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JUnit Tests</a:t>
            </a:r>
            <a:endParaRPr b="1" sz="19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Ab Meilenstein 4 werden wir Unit Tests benutzen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Die wichtigsten Funktionen und Konzepte werden gründlich getestet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Spiellogik: Bewegen der Figuren, Legale und Illegale Bewegungen, Sammeln von Gegnern…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</p:txBody>
      </p:sp>
      <p:sp>
        <p:nvSpPr>
          <p:cNvPr id="315" name="Google Shape;315;p31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2"/>
          <p:cNvSpPr txBox="1"/>
          <p:nvPr>
            <p:ph idx="1" type="body"/>
          </p:nvPr>
        </p:nvSpPr>
        <p:spPr>
          <a:xfrm>
            <a:off x="334800" y="1520826"/>
            <a:ext cx="11521800" cy="47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Metrics</a:t>
            </a:r>
            <a:endParaRPr b="1" sz="19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IntelliJ MetricsReloaded Plugin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Wird benutzt um die Codequalität zu quantifizieren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Lines of Code metrics, Javadoc Coverage metrics und </a:t>
            </a:r>
            <a:r>
              <a:rPr lang="de-CH"/>
              <a:t>Complexity</a:t>
            </a:r>
            <a:r>
              <a:rPr lang="de-CH"/>
              <a:t> metrics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Überblick behalten</a:t>
            </a:r>
            <a:endParaRPr/>
          </a:p>
        </p:txBody>
      </p:sp>
      <p:sp>
        <p:nvSpPr>
          <p:cNvPr id="322" name="Google Shape;322;p32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 txBox="1"/>
          <p:nvPr>
            <p:ph type="title"/>
          </p:nvPr>
        </p:nvSpPr>
        <p:spPr>
          <a:xfrm>
            <a:off x="335360" y="404813"/>
            <a:ext cx="115212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de-CH"/>
              <a:t>Inhaltsangabe</a:t>
            </a:r>
            <a:endParaRPr/>
          </a:p>
        </p:txBody>
      </p:sp>
      <p:sp>
        <p:nvSpPr>
          <p:cNvPr id="328" name="Google Shape;328;p33"/>
          <p:cNvSpPr txBox="1"/>
          <p:nvPr>
            <p:ph idx="11" type="ftr"/>
          </p:nvPr>
        </p:nvSpPr>
        <p:spPr>
          <a:xfrm>
            <a:off x="9120682" y="6525344"/>
            <a:ext cx="2544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Universität Basel</a:t>
            </a:r>
            <a:endParaRPr/>
          </a:p>
        </p:txBody>
      </p:sp>
      <p:sp>
        <p:nvSpPr>
          <p:cNvPr id="329" name="Google Shape;329;p33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graphicFrame>
        <p:nvGraphicFramePr>
          <p:cNvPr id="330" name="Google Shape;330;p33"/>
          <p:cNvGraphicFramePr/>
          <p:nvPr/>
        </p:nvGraphicFramePr>
        <p:xfrm>
          <a:off x="334963" y="15259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{BEBEC4AB-648B-497B-B5CD-FC7CF10A4E88}</a:tableStyleId>
              </a:tblPr>
              <a:tblGrid>
                <a:gridCol w="650900"/>
                <a:gridCol w="108707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 u="none" cap="none" strike="noStrike"/>
                        <a:t>1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CHESS MANIA! - Ziele, Regeln und Mechaniken 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2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Repräsentation des Spielstandes und der Spiellogik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3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Demo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4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Software-Qualitätssicherungs Massnahmen 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5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Verwendete Technologien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6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Progress Report - Fortschrittsbericht 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>
            <p:ph type="title"/>
          </p:nvPr>
        </p:nvSpPr>
        <p:spPr>
          <a:xfrm>
            <a:off x="334800" y="404813"/>
            <a:ext cx="11521800" cy="75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Verwendete Technologien</a:t>
            </a:r>
            <a:endParaRPr/>
          </a:p>
        </p:txBody>
      </p:sp>
      <p:sp>
        <p:nvSpPr>
          <p:cNvPr id="337" name="Google Shape;337;p34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338" name="Google Shape;338;p34"/>
          <p:cNvSpPr txBox="1"/>
          <p:nvPr>
            <p:ph idx="1" type="body"/>
          </p:nvPr>
        </p:nvSpPr>
        <p:spPr>
          <a:xfrm>
            <a:off x="334800" y="1520826"/>
            <a:ext cx="11521800" cy="47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Slack</a:t>
            </a:r>
            <a:endParaRPr b="1" sz="19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Haupt-Kommunikationskanal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Austausch von Ideen und Bug-Reports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Trello</a:t>
            </a:r>
            <a:endParaRPr b="1" sz="19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Aufgaben-Verwaltungs-Onlinedienst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Klare Aufgabenverteilung und Aufgabenerstellung</a:t>
            </a:r>
            <a:endParaRPr/>
          </a:p>
        </p:txBody>
      </p:sp>
      <p:pic>
        <p:nvPicPr>
          <p:cNvPr descr="File:Slack Technologies Logo.svg - Wikimedia Commons" id="339" name="Google Shape;33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7900" y="2099125"/>
            <a:ext cx="2683500" cy="6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ei:Trello-logo-blue.svg – Wikipedia" id="340" name="Google Shape;34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1475" y="4367750"/>
            <a:ext cx="2996350" cy="6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5"/>
          <p:cNvSpPr txBox="1"/>
          <p:nvPr>
            <p:ph idx="1" type="body"/>
          </p:nvPr>
        </p:nvSpPr>
        <p:spPr>
          <a:xfrm>
            <a:off x="334800" y="1520826"/>
            <a:ext cx="11521800" cy="47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ZOOM</a:t>
            </a:r>
            <a:endParaRPr b="1" sz="19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Videokonferenzen und Screen-Sharing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Metrics-Reloaded-Plugin</a:t>
            </a:r>
            <a:endParaRPr b="1" sz="19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Damit werden die notwendigen Metrics berechnet in IntelliJ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Google Docs &amp; Google Slides</a:t>
            </a:r>
            <a:endParaRPr b="1" sz="19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Erlaubt gleichzeitiges Editieren von Dateien und Präsentationen</a:t>
            </a:r>
            <a:endParaRPr/>
          </a:p>
        </p:txBody>
      </p:sp>
      <p:sp>
        <p:nvSpPr>
          <p:cNvPr id="347" name="Google Shape;347;p35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pic>
        <p:nvPicPr>
          <p:cNvPr descr="File:Zoom logo.svg - Wikimedia Commons" id="348" name="Google Shape;3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1174" y="1955700"/>
            <a:ext cx="2269976" cy="53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Google docs.png - Wikimedia Commons" id="349" name="Google Shape;34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32850" y="4511150"/>
            <a:ext cx="964825" cy="96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ei:Google Slides logo (2014-2020).svg – Wikipedia" id="350" name="Google Shape;35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14175" y="4581875"/>
            <a:ext cx="647250" cy="8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 txBox="1"/>
          <p:nvPr>
            <p:ph type="title"/>
          </p:nvPr>
        </p:nvSpPr>
        <p:spPr>
          <a:xfrm>
            <a:off x="335360" y="404813"/>
            <a:ext cx="115212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de-CH"/>
              <a:t>Inhaltsangabe</a:t>
            </a:r>
            <a:endParaRPr/>
          </a:p>
        </p:txBody>
      </p:sp>
      <p:sp>
        <p:nvSpPr>
          <p:cNvPr id="356" name="Google Shape;356;p36"/>
          <p:cNvSpPr txBox="1"/>
          <p:nvPr>
            <p:ph idx="11" type="ftr"/>
          </p:nvPr>
        </p:nvSpPr>
        <p:spPr>
          <a:xfrm>
            <a:off x="9120682" y="6525344"/>
            <a:ext cx="2544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Universität Basel</a:t>
            </a:r>
            <a:endParaRPr/>
          </a:p>
        </p:txBody>
      </p:sp>
      <p:sp>
        <p:nvSpPr>
          <p:cNvPr id="357" name="Google Shape;357;p36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graphicFrame>
        <p:nvGraphicFramePr>
          <p:cNvPr id="358" name="Google Shape;358;p36"/>
          <p:cNvGraphicFramePr/>
          <p:nvPr/>
        </p:nvGraphicFramePr>
        <p:xfrm>
          <a:off x="334963" y="15259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{BEBEC4AB-648B-497B-B5CD-FC7CF10A4E88}</a:tableStyleId>
              </a:tblPr>
              <a:tblGrid>
                <a:gridCol w="650900"/>
                <a:gridCol w="108707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 u="none" cap="none" strike="noStrike"/>
                        <a:t>1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CHESS MANIA! - Ziele, Regeln und Mechaniken 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2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Repräsentation des Spielstandes und der Spiellogik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3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Demo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4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Software-Qualitätssicherungs Massnahmen 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5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Verwendete Technologien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6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800"/>
                        <a:t>Progress Report - Fortschrittsbericht </a:t>
                      </a:r>
                      <a:endParaRPr sz="1800"/>
                    </a:p>
                  </a:txBody>
                  <a:tcPr marT="90000" marB="90000" marR="144000" marL="14400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 txBox="1"/>
          <p:nvPr>
            <p:ph type="title"/>
          </p:nvPr>
        </p:nvSpPr>
        <p:spPr>
          <a:xfrm>
            <a:off x="334800" y="404813"/>
            <a:ext cx="11521800" cy="75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Progress Report - Fortschrittsbericht</a:t>
            </a:r>
            <a:endParaRPr/>
          </a:p>
        </p:txBody>
      </p:sp>
      <p:sp>
        <p:nvSpPr>
          <p:cNvPr id="365" name="Google Shape;365;p37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366" name="Google Shape;366;p37"/>
          <p:cNvSpPr txBox="1"/>
          <p:nvPr>
            <p:ph idx="1" type="body"/>
          </p:nvPr>
        </p:nvSpPr>
        <p:spPr>
          <a:xfrm>
            <a:off x="334975" y="919300"/>
            <a:ext cx="5988600" cy="53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Meilenstein 4</a:t>
            </a:r>
            <a:endParaRPr b="1" sz="19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Restliche Bugs Fixen </a:t>
            </a:r>
            <a:r>
              <a:rPr lang="de-CH" sz="1200"/>
              <a:t>→ Mark und André</a:t>
            </a:r>
            <a:endParaRPr sz="1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GUI </a:t>
            </a:r>
            <a:r>
              <a:rPr lang="de-CH" sz="1200"/>
              <a:t>→ André und Mark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Spiel-Logo </a:t>
            </a:r>
            <a:r>
              <a:rPr lang="de-CH" sz="1200"/>
              <a:t>→ André und Mark</a:t>
            </a:r>
            <a:endParaRPr sz="1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Spiel </a:t>
            </a:r>
            <a:r>
              <a:rPr lang="de-CH"/>
              <a:t>Grafiken</a:t>
            </a:r>
            <a:r>
              <a:rPr lang="de-CH"/>
              <a:t> (Schachfiguren und Schachbrett) </a:t>
            </a:r>
            <a:r>
              <a:rPr lang="de-CH" sz="1200"/>
              <a:t>→ André</a:t>
            </a:r>
            <a:endParaRPr sz="1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Spiel Intro</a:t>
            </a:r>
            <a:r>
              <a:rPr lang="de-CH" sz="1200"/>
              <a:t> → André</a:t>
            </a:r>
            <a:endParaRPr sz="1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Highscore Liste erstellen</a:t>
            </a:r>
            <a:r>
              <a:rPr lang="de-CH" sz="1200"/>
              <a:t> → Mark</a:t>
            </a:r>
            <a:endParaRPr sz="1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Peer-Review </a:t>
            </a:r>
            <a:r>
              <a:rPr lang="de-CH" sz="1200"/>
              <a:t>→ André und Mark</a:t>
            </a:r>
            <a:endParaRPr sz="1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Gewinner und Spielstatus funktioniert </a:t>
            </a:r>
            <a:r>
              <a:rPr lang="de-CH" sz="1200"/>
              <a:t>→ Mark</a:t>
            </a:r>
            <a:endParaRPr sz="1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Spiel in der GUI spielbar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JUnit-Tests für alle wichtigen Konstrukte </a:t>
            </a:r>
            <a:r>
              <a:rPr lang="de-CH" sz="1200"/>
              <a:t>→ André und Mark</a:t>
            </a:r>
            <a:endParaRPr/>
          </a:p>
        </p:txBody>
      </p:sp>
      <p:grpSp>
        <p:nvGrpSpPr>
          <p:cNvPr id="367" name="Google Shape;367;p37"/>
          <p:cNvGrpSpPr/>
          <p:nvPr/>
        </p:nvGrpSpPr>
        <p:grpSpPr>
          <a:xfrm>
            <a:off x="3720713" y="1160825"/>
            <a:ext cx="4607725" cy="1330200"/>
            <a:chOff x="3444863" y="1329875"/>
            <a:chExt cx="4607725" cy="1330200"/>
          </a:xfrm>
        </p:grpSpPr>
        <p:sp>
          <p:nvSpPr>
            <p:cNvPr id="368" name="Google Shape;368;p37"/>
            <p:cNvSpPr/>
            <p:nvPr/>
          </p:nvSpPr>
          <p:spPr>
            <a:xfrm>
              <a:off x="3444863" y="1329875"/>
              <a:ext cx="2838600" cy="6651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de-CH" sz="1800"/>
                <a:t>Meilenstein 4</a:t>
              </a:r>
              <a:endParaRPr b="1" sz="1800"/>
            </a:p>
          </p:txBody>
        </p:sp>
        <p:sp>
          <p:nvSpPr>
            <p:cNvPr id="369" name="Google Shape;369;p37"/>
            <p:cNvSpPr/>
            <p:nvPr/>
          </p:nvSpPr>
          <p:spPr>
            <a:xfrm>
              <a:off x="5213988" y="1994975"/>
              <a:ext cx="2838600" cy="6651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de-CH" sz="1800">
                  <a:solidFill>
                    <a:schemeClr val="dk1"/>
                  </a:solidFill>
                </a:rPr>
                <a:t>Meilenstein 5</a:t>
              </a:r>
              <a:endParaRPr/>
            </a:p>
          </p:txBody>
        </p:sp>
      </p:grpSp>
      <p:sp>
        <p:nvSpPr>
          <p:cNvPr id="370" name="Google Shape;370;p37"/>
          <p:cNvSpPr txBox="1"/>
          <p:nvPr>
            <p:ph idx="1" type="body"/>
          </p:nvPr>
        </p:nvSpPr>
        <p:spPr>
          <a:xfrm>
            <a:off x="6687275" y="1484775"/>
            <a:ext cx="5597100" cy="47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Meilenstein 5</a:t>
            </a:r>
            <a:endParaRPr b="1" sz="19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Finale Bugs beseitigen </a:t>
            </a:r>
            <a:r>
              <a:rPr lang="de-CH" sz="1200"/>
              <a:t>→ André und Mark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Cheats implementieren </a:t>
            </a:r>
            <a:r>
              <a:rPr lang="de-CH" sz="1200"/>
              <a:t>→ Mark</a:t>
            </a:r>
            <a:endParaRPr sz="1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QA-Report schreiben </a:t>
            </a:r>
            <a:r>
              <a:rPr lang="de-CH" sz="1200"/>
              <a:t>→ André und Mark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Soundeffekte hinzufügen </a:t>
            </a:r>
            <a:r>
              <a:rPr lang="de-CH" sz="1200"/>
              <a:t>→ André</a:t>
            </a:r>
            <a:endParaRPr sz="1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Dokumentation vervollständigen </a:t>
            </a:r>
            <a:r>
              <a:rPr lang="de-CH" sz="1400"/>
              <a:t>→ Mark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Screenshots, Trailer und Webseite einrichten </a:t>
            </a:r>
            <a:r>
              <a:rPr lang="de-CH" sz="1200"/>
              <a:t>→ Mark</a:t>
            </a:r>
            <a:endParaRPr sz="1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Alle Unit-Tests sind fertig und korrekt </a:t>
            </a:r>
            <a:r>
              <a:rPr lang="de-CH" sz="1200"/>
              <a:t>→ André und Mark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8"/>
          <p:cNvSpPr txBox="1"/>
          <p:nvPr>
            <p:ph type="title"/>
          </p:nvPr>
        </p:nvSpPr>
        <p:spPr>
          <a:xfrm>
            <a:off x="335360" y="404813"/>
            <a:ext cx="11521200" cy="75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Progress Report - Fortschrittsbericht</a:t>
            </a:r>
            <a:endParaRPr/>
          </a:p>
        </p:txBody>
      </p:sp>
      <p:sp>
        <p:nvSpPr>
          <p:cNvPr id="377" name="Google Shape;377;p38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378" name="Google Shape;378;p38"/>
          <p:cNvSpPr txBox="1"/>
          <p:nvPr>
            <p:ph idx="4294967295" type="body"/>
          </p:nvPr>
        </p:nvSpPr>
        <p:spPr>
          <a:xfrm>
            <a:off x="334800" y="1520826"/>
            <a:ext cx="11521800" cy="47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900" u="sng"/>
              <a:t>Status Update</a:t>
            </a:r>
            <a:endParaRPr b="1" sz="19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Team besteht nur noch aus zwei Entwicklern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Features, die ursprünglich eingeplant waren, mussten gestrichen werden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Dank guter Planung und Organisationsstruktur konnte der Grossteil des Projektplans eingehalten werden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CH"/>
              <a:t>Es blieb nicht genug Zeit für den Feinschliff (sehr viele Bugs momentan, kaum Zeit zum Optimieren des Codes)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9"/>
          <p:cNvSpPr txBox="1"/>
          <p:nvPr>
            <p:ph type="title"/>
          </p:nvPr>
        </p:nvSpPr>
        <p:spPr>
          <a:xfrm>
            <a:off x="334800" y="404813"/>
            <a:ext cx="11521800" cy="75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Bildverzeichnis</a:t>
            </a:r>
            <a:endParaRPr/>
          </a:p>
        </p:txBody>
      </p:sp>
      <p:sp>
        <p:nvSpPr>
          <p:cNvPr id="385" name="Google Shape;385;p39"/>
          <p:cNvSpPr txBox="1"/>
          <p:nvPr>
            <p:ph idx="12" type="sldNum"/>
          </p:nvPr>
        </p:nvSpPr>
        <p:spPr>
          <a:xfrm>
            <a:off x="11664965" y="6525344"/>
            <a:ext cx="191700" cy="180000"/>
          </a:xfrm>
          <a:prstGeom prst="rect">
            <a:avLst/>
          </a:prstGeom>
        </p:spPr>
        <p:txBody>
          <a:bodyPr anchorCtr="0" anchor="t" bIns="0" lIns="0" spcFirstLastPara="1" rIns="0" wrap="square" tIns="216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sp>
        <p:nvSpPr>
          <p:cNvPr id="386" name="Google Shape;386;p39"/>
          <p:cNvSpPr txBox="1"/>
          <p:nvPr>
            <p:ph idx="1" type="body"/>
          </p:nvPr>
        </p:nvSpPr>
        <p:spPr>
          <a:xfrm>
            <a:off x="334800" y="1216026"/>
            <a:ext cx="11521800" cy="471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 sz="1500"/>
              <a:t>Bild </a:t>
            </a:r>
            <a:r>
              <a:rPr lang="de-CH" sz="1500"/>
              <a:t>Folie 1: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 sz="1500" u="sng">
                <a:solidFill>
                  <a:schemeClr val="hlink"/>
                </a:solidFill>
                <a:hlinkClick r:id="rId3"/>
              </a:rPr>
              <a:t>https://pixabay.com/illustrations/silhouette-chess-game-knight-rook-4233613/</a:t>
            </a:r>
            <a:r>
              <a:rPr lang="de-CH" sz="1500"/>
              <a:t>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CH" sz="1500">
                <a:highlight>
                  <a:srgbClr val="FFFFFF"/>
                </a:highlight>
              </a:rPr>
              <a:t>Bild aus Folie 3:</a:t>
            </a:r>
            <a:endParaRPr sz="15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CH" sz="15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https://www.chess.com/</a:t>
            </a:r>
            <a:endParaRPr sz="13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CH" sz="1500"/>
              <a:t>Figurenbilder aus den Folien 4 und 5:</a:t>
            </a:r>
            <a:endParaRPr sz="1500"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CH" sz="1500" u="sng">
                <a:hlinkClick r:id="rId5"/>
              </a:rPr>
              <a:t>https://www.dummies.com/games/chess/knowing-the-moves-that-chess-pieces-can-make/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 sz="1500"/>
              <a:t>Bilder Folie 20: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 sz="1500" u="sng">
                <a:solidFill>
                  <a:schemeClr val="hlink"/>
                </a:solidFill>
                <a:hlinkClick r:id="rId6"/>
              </a:rPr>
              <a:t>https://commons.wikimedia.org/wiki/File:Slack_Technologies_Logo.svg</a:t>
            </a:r>
            <a:r>
              <a:rPr lang="de-CH" sz="1500"/>
              <a:t>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 sz="1500" u="sng">
                <a:solidFill>
                  <a:schemeClr val="hlink"/>
                </a:solidFill>
                <a:hlinkClick r:id="rId7"/>
              </a:rPr>
              <a:t>https://de.m.wikipedia.org/wiki/Datei:Trello-logo-blue.svg</a:t>
            </a:r>
            <a:r>
              <a:rPr lang="de-CH" sz="1500"/>
              <a:t>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CH" sz="1500"/>
              <a:t>Bilder Folie 21: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 sz="1500" u="sng">
                <a:solidFill>
                  <a:schemeClr val="hlink"/>
                </a:solidFill>
                <a:hlinkClick r:id="rId8"/>
              </a:rPr>
              <a:t>https://commons.wikimedia.org/wiki/File:Zoom_logo.svg</a:t>
            </a:r>
            <a:r>
              <a:rPr lang="de-CH" sz="1500"/>
              <a:t>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 sz="1500" u="sng">
                <a:solidFill>
                  <a:schemeClr val="hlink"/>
                </a:solidFill>
                <a:hlinkClick r:id="rId9"/>
              </a:rPr>
              <a:t>https://commons.wikimedia.org/wiki/File:Google_docs.png</a:t>
            </a:r>
            <a:r>
              <a:rPr lang="de-CH" sz="1500"/>
              <a:t>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CH" sz="1500" u="sng">
                <a:hlinkClick r:id="rId10"/>
              </a:rPr>
              <a:t>https://de.m.wikipedia.org/wiki/Datei:Google_Slides_logo_(2014-2020).svg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0"/>
          <p:cNvSpPr txBox="1"/>
          <p:nvPr>
            <p:ph type="ctrTitle"/>
          </p:nvPr>
        </p:nvSpPr>
        <p:spPr>
          <a:xfrm>
            <a:off x="838800" y="1376363"/>
            <a:ext cx="7428256" cy="1044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eorgia"/>
              <a:buNone/>
            </a:pPr>
            <a:r>
              <a:rPr lang="de-CH"/>
              <a:t>Vielen Dank</a:t>
            </a:r>
            <a:br>
              <a:rPr lang="de-CH"/>
            </a:br>
            <a:r>
              <a:rPr b="0" lang="de-CH"/>
              <a:t>für Eure Aufmerksamkeit.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rissa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ni_basel_V04_de">
  <a:themeElements>
    <a:clrScheme name="Uni Basel">
      <a:dk1>
        <a:srgbClr val="000000"/>
      </a:dk1>
      <a:lt1>
        <a:srgbClr val="FFFFFF"/>
      </a:lt1>
      <a:dk2>
        <a:srgbClr val="006E6E"/>
      </a:dk2>
      <a:lt2>
        <a:srgbClr val="BEC3C8"/>
      </a:lt2>
      <a:accent1>
        <a:srgbClr val="A5D7D2"/>
      </a:accent1>
      <a:accent2>
        <a:srgbClr val="1EA5A5"/>
      </a:accent2>
      <a:accent3>
        <a:srgbClr val="2D373C"/>
      </a:accent3>
      <a:accent4>
        <a:srgbClr val="8C9196"/>
      </a:accent4>
      <a:accent5>
        <a:srgbClr val="D20537"/>
      </a:accent5>
      <a:accent6>
        <a:srgbClr val="EB829B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