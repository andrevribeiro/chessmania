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d9885a7d6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d9885a7d6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d9885a7d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d9885a7d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6928129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b6928129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b6928129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b6928129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b6928129c5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b6928129c5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b6928129c5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b6928129c5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b6928129c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b6928129c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b6928129c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b6928129c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b6928129c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b6928129c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6928129c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6928129c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6928129c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6928129c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b6928129c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b6928129c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b6928129c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b6928129c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6928129c5_4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b6928129c5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b6928129c5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b6928129c5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d9885a7d6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d9885a7d6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d9885a7d6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d9885a7d6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b6928129c5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b6928129c5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b6928129c5_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b6928129c5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b6928129c5_7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b6928129c5_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b6928129c5_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b6928129c5_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9885a7d6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9885a7d6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d9885a7d6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d9885a7d6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9885a7d6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9885a7d6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b6928129c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b6928129c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d9885a7d6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d9885a7d6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b6928129c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b6928129c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b6928129c5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b6928129c5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b6928129c5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b6928129c5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9885a7d6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9885a7d6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b6928129c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b6928129c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9885a7d6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9885a7d6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b6928129c5_7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b6928129c5_7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ADD8E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hyperlink" Target="http://www.youtube.com/watch?v=yABKOZARsHs" TargetMode="External"/><Relationship Id="rId5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10" Type="http://schemas.openxmlformats.org/officeDocument/2006/relationships/image" Target="../media/image3.png"/><Relationship Id="rId9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11" Type="http://schemas.openxmlformats.org/officeDocument/2006/relationships/image" Target="../media/image30.png"/><Relationship Id="rId10" Type="http://schemas.openxmlformats.org/officeDocument/2006/relationships/image" Target="../media/image32.png"/><Relationship Id="rId12" Type="http://schemas.openxmlformats.org/officeDocument/2006/relationships/image" Target="../media/image27.png"/><Relationship Id="rId9" Type="http://schemas.openxmlformats.org/officeDocument/2006/relationships/image" Target="../media/image29.png"/><Relationship Id="rId5" Type="http://schemas.openxmlformats.org/officeDocument/2006/relationships/image" Target="../media/image38.png"/><Relationship Id="rId6" Type="http://schemas.openxmlformats.org/officeDocument/2006/relationships/image" Target="../media/image21.png"/><Relationship Id="rId7" Type="http://schemas.openxmlformats.org/officeDocument/2006/relationships/image" Target="../media/image36.png"/><Relationship Id="rId8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www.chess-mania.com" TargetMode="External"/><Relationship Id="rId4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136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Meilenstein 5 -</a:t>
            </a: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28.05.2021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32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Mark Starzynski, André Vieira Ribeiro</a:t>
            </a:r>
            <a:endParaRPr sz="1832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3496" l="14433" r="13902" t="7313"/>
          <a:stretch/>
        </p:blipFill>
        <p:spPr>
          <a:xfrm>
            <a:off x="2218225" y="388852"/>
            <a:ext cx="4707552" cy="353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76140" r="0" t="57605"/>
          <a:stretch/>
        </p:blipFill>
        <p:spPr>
          <a:xfrm>
            <a:off x="7921300" y="3921412"/>
            <a:ext cx="1222699" cy="122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b="57605" l="0" r="76687" t="0"/>
          <a:stretch/>
        </p:blipFill>
        <p:spPr>
          <a:xfrm>
            <a:off x="0" y="0"/>
            <a:ext cx="1194744" cy="122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6">
            <a:alphaModFix/>
          </a:blip>
          <a:srcRect b="55297" l="57666" r="22354" t="4000"/>
          <a:stretch/>
        </p:blipFill>
        <p:spPr>
          <a:xfrm>
            <a:off x="5066971" y="284950"/>
            <a:ext cx="1251883" cy="153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7">
            <a:alphaModFix/>
          </a:blip>
          <a:srcRect b="3049" l="18360" r="61985" t="57603"/>
          <a:stretch/>
        </p:blipFill>
        <p:spPr>
          <a:xfrm>
            <a:off x="2513739" y="2406605"/>
            <a:ext cx="1222723" cy="1476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1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1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1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1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3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34410" l="12935" r="12420" t="35170"/>
          <a:stretch/>
        </p:blipFill>
        <p:spPr>
          <a:xfrm>
            <a:off x="2435125" y="161675"/>
            <a:ext cx="4273752" cy="979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s is the trailer to our new game Chess Mania!&#10;&#10;CHECK IT OUT:&#10;www.chess-mania.com" id="65" name="Google Shape;65;p14" title="Chess Mania! *OFFICIAL TRAILER*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8188" y="1283725"/>
            <a:ext cx="5507626" cy="3643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Verdana"/>
                <a:ea typeface="Verdana"/>
                <a:cs typeface="Verdana"/>
                <a:sym typeface="Verdana"/>
              </a:rPr>
              <a:t>Inhaltsangabe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	DEMO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	Software Qualitätssicherung - Resultate und Gelerntes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	Verwendete Technologien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	Was wir gelernt haben!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sp>
        <p:nvSpPr>
          <p:cNvPr id="77" name="Google Shape;77;p16"/>
          <p:cNvSpPr txBox="1"/>
          <p:nvPr/>
        </p:nvSpPr>
        <p:spPr>
          <a:xfrm>
            <a:off x="1028000" y="2003775"/>
            <a:ext cx="71970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Ziel des Spiels ist es...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möglichst viele Punkte durch das Schlagen gegnerischer Figuren zu erhalten und verbündete Spielfiguren zu beschützen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725" y="1423800"/>
            <a:ext cx="3241376" cy="31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049700" y="2192375"/>
            <a:ext cx="49725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Regeln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Rot-Gelb vs. Blau-Grün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Spielzeit 5 min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jede Runde dauert max. 10s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725" y="1423800"/>
            <a:ext cx="3241376" cy="31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077700" y="2122325"/>
            <a:ext cx="49725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Spielende </a:t>
            </a:r>
            <a:endParaRPr b="1"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-"/>
            </a:pPr>
            <a:r>
              <a:rPr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wenn ein König geschlagen wird ODER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-"/>
            </a:pPr>
            <a:r>
              <a:rPr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wenn die Spielzeit um ist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-"/>
            </a:pPr>
            <a:r>
              <a:rPr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Team mit den meisten Punkten gewinnt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688" y="1670375"/>
            <a:ext cx="7550974" cy="120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4972" y="3090412"/>
            <a:ext cx="761482" cy="76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150" y="3090400"/>
            <a:ext cx="761482" cy="76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4109" y="3090400"/>
            <a:ext cx="761482" cy="76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61063" y="3090409"/>
            <a:ext cx="761482" cy="76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91926" y="3090412"/>
            <a:ext cx="761482" cy="76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38017" y="3090409"/>
            <a:ext cx="761482" cy="76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68880" y="3090409"/>
            <a:ext cx="761482" cy="76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7017" l="24566" r="27122" t="7716"/>
          <a:stretch/>
        </p:blipFill>
        <p:spPr>
          <a:xfrm>
            <a:off x="1112400" y="1860625"/>
            <a:ext cx="2114501" cy="2099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3958325" y="2111550"/>
            <a:ext cx="4158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Pawn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bewegt sich nur vorwärts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wird zu einer Fake Queen nach 6 Feldern vorwärts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sp>
        <p:nvSpPr>
          <p:cNvPr id="117" name="Google Shape;117;p21"/>
          <p:cNvSpPr txBox="1"/>
          <p:nvPr/>
        </p:nvSpPr>
        <p:spPr>
          <a:xfrm>
            <a:off x="3958325" y="2111550"/>
            <a:ext cx="4158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Pawn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3958325" y="2111550"/>
            <a:ext cx="4158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schlägt eine gegnerische Figur diagonal vorwärts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0" y="1677925"/>
            <a:ext cx="4381800" cy="246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sp>
        <p:nvSpPr>
          <p:cNvPr id="125" name="Google Shape;125;p22"/>
          <p:cNvSpPr txBox="1"/>
          <p:nvPr/>
        </p:nvSpPr>
        <p:spPr>
          <a:xfrm>
            <a:off x="4034525" y="1959150"/>
            <a:ext cx="4375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Queen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bewegt sich in jede Richtung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kann keine Figuren überspringen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verbündete Figuren blockieren ihren Weg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7119" l="21253" r="29400" t="6999"/>
          <a:stretch/>
        </p:blipFill>
        <p:spPr>
          <a:xfrm>
            <a:off x="1064000" y="1827850"/>
            <a:ext cx="2211302" cy="216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sp>
        <p:nvSpPr>
          <p:cNvPr id="132" name="Google Shape;132;p23"/>
          <p:cNvSpPr txBox="1"/>
          <p:nvPr/>
        </p:nvSpPr>
        <p:spPr>
          <a:xfrm>
            <a:off x="4034525" y="1806750"/>
            <a:ext cx="43755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Rook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bewegt sich horizontal und vertikal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kann keine Figuren überspringen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verbündete Figuren </a:t>
            </a: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blockieren ihren Weg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 rotWithShape="1">
          <a:blip r:embed="rId3">
            <a:alphaModFix/>
          </a:blip>
          <a:srcRect b="6403" l="21268" r="29385" t="6481"/>
          <a:stretch/>
        </p:blipFill>
        <p:spPr>
          <a:xfrm>
            <a:off x="1016925" y="1765613"/>
            <a:ext cx="2305450" cy="228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sp>
        <p:nvSpPr>
          <p:cNvPr id="139" name="Google Shape;139;p24"/>
          <p:cNvSpPr txBox="1"/>
          <p:nvPr/>
        </p:nvSpPr>
        <p:spPr>
          <a:xfrm>
            <a:off x="4034525" y="1959150"/>
            <a:ext cx="4375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Bishop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bewegt sich diagonal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kann keine Figuren überspringen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verbündete Figuren </a:t>
            </a: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blockieren ihren Weg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0" name="Google Shape;140;p24"/>
          <p:cNvPicPr preferRelativeResize="0"/>
          <p:nvPr/>
        </p:nvPicPr>
        <p:blipFill rotWithShape="1">
          <a:blip r:embed="rId3">
            <a:alphaModFix/>
          </a:blip>
          <a:srcRect b="7871" l="22467" r="30548" t="8656"/>
          <a:stretch/>
        </p:blipFill>
        <p:spPr>
          <a:xfrm>
            <a:off x="1112400" y="1853713"/>
            <a:ext cx="2114501" cy="211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sp>
        <p:nvSpPr>
          <p:cNvPr id="146" name="Google Shape;146;p25"/>
          <p:cNvSpPr txBox="1"/>
          <p:nvPr/>
        </p:nvSpPr>
        <p:spPr>
          <a:xfrm>
            <a:off x="4034525" y="1806750"/>
            <a:ext cx="43755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Knight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können über Figuren springen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bewegen sich 2 Felder horizontal und 1 Feld vertikal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oder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2 Felder vertikal und 1 Feld horizontal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3">
            <a:alphaModFix/>
          </a:blip>
          <a:srcRect b="6679" l="21710" r="29980" t="7016"/>
          <a:stretch/>
        </p:blipFill>
        <p:spPr>
          <a:xfrm>
            <a:off x="1064000" y="1823250"/>
            <a:ext cx="2211302" cy="22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sp>
        <p:nvSpPr>
          <p:cNvPr id="153" name="Google Shape;153;p26"/>
          <p:cNvSpPr txBox="1"/>
          <p:nvPr/>
        </p:nvSpPr>
        <p:spPr>
          <a:xfrm>
            <a:off x="4034525" y="1959150"/>
            <a:ext cx="4375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King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jede Richtung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nur ein Feld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Spiel endet wenn ein König geschlagen wird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 rotWithShape="1">
          <a:blip r:embed="rId3">
            <a:alphaModFix/>
          </a:blip>
          <a:srcRect b="7928" l="22061" r="30432" t="8171"/>
          <a:stretch/>
        </p:blipFill>
        <p:spPr>
          <a:xfrm>
            <a:off x="1113050" y="1866150"/>
            <a:ext cx="2113200" cy="211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sp>
        <p:nvSpPr>
          <p:cNvPr id="160" name="Google Shape;160;p27"/>
          <p:cNvSpPr txBox="1"/>
          <p:nvPr/>
        </p:nvSpPr>
        <p:spPr>
          <a:xfrm>
            <a:off x="4034525" y="1959150"/>
            <a:ext cx="43755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King</a:t>
            </a:r>
            <a:endParaRPr b="1"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-"/>
            </a:pPr>
            <a:r>
              <a:rPr b="1"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darf sich nicht</a:t>
            </a:r>
            <a:r>
              <a:rPr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 den Sichtbereich gegnerischer Figuren bewegen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-"/>
            </a:pPr>
            <a:r>
              <a:rPr b="1"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muss </a:t>
            </a:r>
            <a:r>
              <a:rPr lang="de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sich aus dem Sichtbereich gegnerischer Figuren heraus bewegen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 rotWithShape="1">
          <a:blip r:embed="rId3">
            <a:alphaModFix/>
          </a:blip>
          <a:srcRect b="7928" l="22061" r="30432" t="8171"/>
          <a:stretch/>
        </p:blipFill>
        <p:spPr>
          <a:xfrm>
            <a:off x="1113050" y="1866150"/>
            <a:ext cx="2113200" cy="211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1	CHESS MANIA! - Ziele, Regeln und Mechaniken </a:t>
            </a:r>
            <a:endParaRPr b="1" sz="3466"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125" y="1423800"/>
            <a:ext cx="3241376" cy="31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4095300" y="2548775"/>
            <a:ext cx="4972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900">
                <a:latin typeface="Verdana"/>
                <a:ea typeface="Verdana"/>
                <a:cs typeface="Verdana"/>
                <a:sym typeface="Verdana"/>
              </a:rPr>
              <a:t>Zeitdruck! </a:t>
            </a: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Merkt euch die Regeln und achtet auf eure Klickgenauigkeit!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2200">
                <a:latin typeface="Verdana"/>
                <a:ea typeface="Verdana"/>
                <a:cs typeface="Verdana"/>
                <a:sym typeface="Verdana"/>
              </a:rPr>
              <a:t>2	DEMO</a:t>
            </a:r>
            <a:endParaRPr b="1" sz="2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800" y="748063"/>
            <a:ext cx="67928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de" sz="1920">
                <a:latin typeface="Verdana"/>
                <a:ea typeface="Verdana"/>
                <a:cs typeface="Verdana"/>
                <a:sym typeface="Verdana"/>
              </a:rPr>
              <a:t>3	Software Qualitätssicherung - Resultate und Gelerntes</a:t>
            </a:r>
            <a:endParaRPr b="1" sz="2820"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Kommunikation</a:t>
            </a:r>
            <a:endParaRPr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Platform “Slack” als </a:t>
            </a: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Haupt-Kommunikationskanal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häufige “ZOOM-Meetings”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“Trello” als Projektmanagement Software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Resultate: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sehr gute Strategie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Prozess wurde vereinfacht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de" sz="1920">
                <a:latin typeface="Verdana"/>
                <a:ea typeface="Verdana"/>
                <a:cs typeface="Verdana"/>
                <a:sym typeface="Verdana"/>
              </a:rPr>
              <a:t>3	Software Qualitätssicherung - Resultate und Gelerntes</a:t>
            </a:r>
            <a:endParaRPr b="1" sz="2820"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Log4j2</a:t>
            </a:r>
            <a:endParaRPr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Fehlerbehebung und Ausnahmen behandeln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Resultate: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ähnlich zu System.out.println()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Potential konnte nicht vollkommen ausgenutzt werden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de" sz="1920">
                <a:latin typeface="Verdana"/>
                <a:ea typeface="Verdana"/>
                <a:cs typeface="Verdana"/>
                <a:sym typeface="Verdana"/>
              </a:rPr>
              <a:t>3	Software Qualitätssicherung - Resultate und Gelerntes</a:t>
            </a:r>
            <a:endParaRPr b="1" sz="2820"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Unit Tests</a:t>
            </a:r>
            <a:endParaRPr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das erste Mal Unit Tests implementiert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vorherige Erfahrung aus “Erweiterte Grundlagen der Programmierung”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Resultate: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247 Tests (469 Assertions)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alle relevanten Funktionen der Spiellogik wurden getestet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de" sz="1920">
                <a:latin typeface="Verdana"/>
                <a:ea typeface="Verdana"/>
                <a:cs typeface="Verdana"/>
                <a:sym typeface="Verdana"/>
              </a:rPr>
              <a:t>3	Software Qualitätssicherung - Resultate und Gelerntes</a:t>
            </a:r>
            <a:endParaRPr b="1" sz="2820"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Metrics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13.107 Zeilen Code (43 Klassen)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1.690 Javadoc Zeilen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Coverage: 77,27% (Project metrics)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 Coverage: 54,86% (Project metrics)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Field Coverage: 13,67% (Project metrics)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Average Cyclomatic Complexity: 3,39 (Project metrics)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Total Cyclomatic Complexity: 1.945 (Project metrics)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de" sz="1920">
                <a:latin typeface="Verdana"/>
                <a:ea typeface="Verdana"/>
                <a:cs typeface="Verdana"/>
                <a:sym typeface="Verdana"/>
              </a:rPr>
              <a:t>3	Software Qualitätssicherung - Resultate und Gelerntes</a:t>
            </a:r>
            <a:endParaRPr b="1" sz="2820"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Gelerntes:</a:t>
            </a:r>
            <a:endParaRPr b="1"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Vorausplanung</a:t>
            </a: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ist sehr wichtig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Je komplexer das Projekt, desto schwieriger ist es den Zeitrahmen einzuhalten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Puffer vor Deadlines einplanen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Dokumentation up-to-date halten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4	Verwendete Technologien</a:t>
            </a:r>
            <a:endParaRPr b="1" sz="3466"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489" y="1126850"/>
            <a:ext cx="2181651" cy="4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900" y="1877325"/>
            <a:ext cx="2422820" cy="61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ei:Apache Log4j Logo.png – Wikipedia" id="212" name="Google Shape;21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822" y="3544275"/>
            <a:ext cx="2752975" cy="10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5687" y="1758363"/>
            <a:ext cx="2350175" cy="8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589" y="2797376"/>
            <a:ext cx="2304275" cy="518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28487" y="1062150"/>
            <a:ext cx="2181651" cy="575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enney • Assets" id="216" name="Google Shape;216;p35"/>
          <p:cNvPicPr preferRelativeResize="0"/>
          <p:nvPr/>
        </p:nvPicPr>
        <p:blipFill rotWithShape="1">
          <a:blip r:embed="rId9">
            <a:alphaModFix/>
          </a:blip>
          <a:srcRect b="10200" l="14952" r="14649" t="7073"/>
          <a:stretch/>
        </p:blipFill>
        <p:spPr>
          <a:xfrm>
            <a:off x="7236050" y="3315825"/>
            <a:ext cx="1596250" cy="148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5"/>
          <p:cNvSpPr txBox="1"/>
          <p:nvPr/>
        </p:nvSpPr>
        <p:spPr>
          <a:xfrm>
            <a:off x="4145725" y="2748800"/>
            <a:ext cx="209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800">
                <a:solidFill>
                  <a:schemeClr val="lt1"/>
                </a:solidFill>
              </a:rPr>
              <a:t>AnimateFX</a:t>
            </a:r>
            <a:endParaRPr b="1" sz="2800">
              <a:solidFill>
                <a:schemeClr val="lt1"/>
              </a:solidFill>
            </a:endParaRPr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19475" y="810900"/>
            <a:ext cx="1058175" cy="10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84150" y="2003924"/>
            <a:ext cx="728816" cy="8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15674" y="3625286"/>
            <a:ext cx="2816873" cy="4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Verdana"/>
                <a:ea typeface="Verdana"/>
                <a:cs typeface="Verdana"/>
                <a:sym typeface="Verdana"/>
              </a:rPr>
              <a:t>Kommunikation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6" name="Google Shape;22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438" y="1341175"/>
            <a:ext cx="2637025" cy="6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2276" y="1418176"/>
            <a:ext cx="2304275" cy="5184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36"/>
          <p:cNvCxnSpPr/>
          <p:nvPr/>
        </p:nvCxnSpPr>
        <p:spPr>
          <a:xfrm flipH="1">
            <a:off x="4639800" y="1236625"/>
            <a:ext cx="300" cy="358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36"/>
          <p:cNvSpPr txBox="1"/>
          <p:nvPr/>
        </p:nvSpPr>
        <p:spPr>
          <a:xfrm>
            <a:off x="583100" y="2418525"/>
            <a:ext cx="35457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Austausch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Kommunikation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Terminvereinbarung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Bug-Reports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0" name="Google Shape;230;p36"/>
          <p:cNvSpPr txBox="1"/>
          <p:nvPr/>
        </p:nvSpPr>
        <p:spPr>
          <a:xfrm>
            <a:off x="5181563" y="2571750"/>
            <a:ext cx="35457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Code Reviews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Zusammenarbeit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Besprechungen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Programmier-Sessions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Verdana"/>
                <a:ea typeface="Verdana"/>
                <a:cs typeface="Verdana"/>
                <a:sym typeface="Verdana"/>
              </a:rPr>
              <a:t>Projektmanagement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6" name="Google Shape;2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925" y="1444225"/>
            <a:ext cx="2487875" cy="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7"/>
          <p:cNvSpPr txBox="1"/>
          <p:nvPr/>
        </p:nvSpPr>
        <p:spPr>
          <a:xfrm>
            <a:off x="733200" y="2338825"/>
            <a:ext cx="3666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Aufgabenverwaltung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Aufgabenverteilung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38" name="Google Shape;238;p37"/>
          <p:cNvCxnSpPr/>
          <p:nvPr/>
        </p:nvCxnSpPr>
        <p:spPr>
          <a:xfrm flipH="1">
            <a:off x="4639800" y="1236625"/>
            <a:ext cx="300" cy="358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7"/>
          <p:cNvSpPr txBox="1"/>
          <p:nvPr/>
        </p:nvSpPr>
        <p:spPr>
          <a:xfrm>
            <a:off x="4981200" y="1461475"/>
            <a:ext cx="3743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u="sng">
                <a:latin typeface="Verdana"/>
                <a:ea typeface="Verdana"/>
                <a:cs typeface="Verdana"/>
                <a:sym typeface="Verdana"/>
              </a:rPr>
              <a:t>Unser Prozess:</a:t>
            </a:r>
            <a:endParaRPr sz="1800" u="sng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neues Trello-</a:t>
            </a: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Board</a:t>
            </a: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 mit allen neuen </a:t>
            </a: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Verteilung der Aufgaben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Deadlines bestimmen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Aufgaben erledigen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Trello-Board aktualisieren...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75" y="378550"/>
            <a:ext cx="8922052" cy="43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Verdana"/>
                <a:ea typeface="Verdana"/>
                <a:cs typeface="Verdana"/>
                <a:sym typeface="Verdana"/>
              </a:rPr>
              <a:t>Dokumentationen und Präsentationen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50" name="Google Shape;25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549" y="11681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0525" y="1248700"/>
            <a:ext cx="887025" cy="105817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9"/>
          <p:cNvSpPr txBox="1"/>
          <p:nvPr/>
        </p:nvSpPr>
        <p:spPr>
          <a:xfrm>
            <a:off x="642650" y="2308550"/>
            <a:ext cx="154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accent1"/>
                </a:solidFill>
              </a:rPr>
              <a:t>Google Docs</a:t>
            </a:r>
            <a:endParaRPr b="1" sz="1700">
              <a:solidFill>
                <a:schemeClr val="accent1"/>
              </a:solidFill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2768438" y="2308550"/>
            <a:ext cx="171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chemeClr val="accent4"/>
                </a:solidFill>
              </a:rPr>
              <a:t>Google Slides</a:t>
            </a:r>
            <a:endParaRPr b="1" sz="1700">
              <a:solidFill>
                <a:schemeClr val="accent4"/>
              </a:solidFill>
            </a:endParaRPr>
          </a:p>
        </p:txBody>
      </p:sp>
      <p:cxnSp>
        <p:nvCxnSpPr>
          <p:cNvPr id="254" name="Google Shape;254;p39"/>
          <p:cNvCxnSpPr/>
          <p:nvPr/>
        </p:nvCxnSpPr>
        <p:spPr>
          <a:xfrm flipH="1">
            <a:off x="4914675" y="1168175"/>
            <a:ext cx="300" cy="358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39"/>
          <p:cNvSpPr txBox="1"/>
          <p:nvPr/>
        </p:nvSpPr>
        <p:spPr>
          <a:xfrm>
            <a:off x="351900" y="2992225"/>
            <a:ext cx="4362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leichzeitiges Bearbeiten von Dokumenten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-"/>
            </a:pPr>
            <a:r>
              <a:rPr lang="de" sz="1900">
                <a:latin typeface="Verdana"/>
                <a:ea typeface="Verdana"/>
                <a:cs typeface="Verdana"/>
                <a:sym typeface="Verdana"/>
              </a:rPr>
              <a:t>interaktives Gestalten von Präsentationen 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6" name="Google Shape;256;p39"/>
          <p:cNvSpPr txBox="1"/>
          <p:nvPr/>
        </p:nvSpPr>
        <p:spPr>
          <a:xfrm>
            <a:off x="5129100" y="1393025"/>
            <a:ext cx="3663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u="sng">
                <a:latin typeface="Verdana"/>
                <a:ea typeface="Verdana"/>
                <a:cs typeface="Verdana"/>
                <a:sym typeface="Verdana"/>
              </a:rPr>
              <a:t>Unser Prozess:</a:t>
            </a:r>
            <a:endParaRPr sz="1800" u="sng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Aufteilung von </a:t>
            </a: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Aufgaben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selbstständiges Arbeiten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Inhalt prüfen (zusammen lesen)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Fehler beheben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Hochladen...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Verdana"/>
                <a:ea typeface="Verdana"/>
                <a:cs typeface="Verdana"/>
                <a:sym typeface="Verdana"/>
              </a:rPr>
              <a:t>Libraries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Datei:Apache Log4j Logo.png – Wikipedia" id="262" name="Google Shape;2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297" y="1207225"/>
            <a:ext cx="2752975" cy="105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0"/>
          <p:cNvSpPr txBox="1"/>
          <p:nvPr/>
        </p:nvSpPr>
        <p:spPr>
          <a:xfrm>
            <a:off x="5856563" y="1428513"/>
            <a:ext cx="209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800">
                <a:solidFill>
                  <a:schemeClr val="lt1"/>
                </a:solidFill>
              </a:rPr>
              <a:t>AnimateFX</a:t>
            </a:r>
            <a:endParaRPr b="1" sz="2800">
              <a:solidFill>
                <a:schemeClr val="lt1"/>
              </a:solidFill>
            </a:endParaRPr>
          </a:p>
        </p:txBody>
      </p:sp>
      <p:cxnSp>
        <p:nvCxnSpPr>
          <p:cNvPr id="264" name="Google Shape;264;p40"/>
          <p:cNvCxnSpPr/>
          <p:nvPr/>
        </p:nvCxnSpPr>
        <p:spPr>
          <a:xfrm flipH="1">
            <a:off x="4571850" y="1207225"/>
            <a:ext cx="300" cy="358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40"/>
          <p:cNvSpPr txBox="1"/>
          <p:nvPr/>
        </p:nvSpPr>
        <p:spPr>
          <a:xfrm>
            <a:off x="217038" y="2571750"/>
            <a:ext cx="411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essere Fehlerdokumentation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Hilfe bei Debuggen 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4989875" y="2219725"/>
            <a:ext cx="3823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Animationen...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wurde im Intro benutzt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wurde im </a:t>
            </a: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Hauptmenü</a:t>
            </a: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 benutzt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Verdana"/>
                <a:ea typeface="Verdana"/>
                <a:cs typeface="Verdana"/>
                <a:sym typeface="Verdana"/>
              </a:rPr>
              <a:t>Modellierung Architektur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2" name="Google Shape;2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67825"/>
            <a:ext cx="3881349" cy="25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9" y="1294236"/>
            <a:ext cx="2816873" cy="4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1"/>
          <p:cNvSpPr txBox="1"/>
          <p:nvPr/>
        </p:nvSpPr>
        <p:spPr>
          <a:xfrm>
            <a:off x="4704950" y="2219725"/>
            <a:ext cx="4439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u="sng">
                <a:latin typeface="Verdana"/>
                <a:ea typeface="Verdana"/>
                <a:cs typeface="Verdana"/>
                <a:sym typeface="Verdana"/>
              </a:rPr>
              <a:t>Architektur-Dokumentation:</a:t>
            </a:r>
            <a:endParaRPr sz="1800" u="sng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Modellierung diverser Subsysteme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-"/>
            </a:pPr>
            <a:r>
              <a:rPr lang="de" sz="1800">
                <a:latin typeface="Verdana"/>
                <a:ea typeface="Verdana"/>
                <a:cs typeface="Verdana"/>
                <a:sym typeface="Verdana"/>
              </a:rPr>
              <a:t>Generierung der Grafiken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Verdana"/>
                <a:ea typeface="Verdana"/>
                <a:cs typeface="Verdana"/>
                <a:sym typeface="Verdana"/>
              </a:rPr>
              <a:t>Spiel- und UI-Elemente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0" name="Google Shape;2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487" y="1453388"/>
            <a:ext cx="2350175" cy="8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7413" y="1578276"/>
            <a:ext cx="2350176" cy="61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enney • Assets" id="282" name="Google Shape;282;p42"/>
          <p:cNvPicPr preferRelativeResize="0"/>
          <p:nvPr/>
        </p:nvPicPr>
        <p:blipFill rotWithShape="1">
          <a:blip r:embed="rId5">
            <a:alphaModFix/>
          </a:blip>
          <a:srcRect b="10200" l="14952" r="14649" t="7073"/>
          <a:stretch/>
        </p:blipFill>
        <p:spPr>
          <a:xfrm>
            <a:off x="692762" y="1143750"/>
            <a:ext cx="1596250" cy="1488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42"/>
          <p:cNvCxnSpPr/>
          <p:nvPr/>
        </p:nvCxnSpPr>
        <p:spPr>
          <a:xfrm flipH="1">
            <a:off x="2979100" y="1207225"/>
            <a:ext cx="300" cy="358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42"/>
          <p:cNvCxnSpPr/>
          <p:nvPr/>
        </p:nvCxnSpPr>
        <p:spPr>
          <a:xfrm flipH="1">
            <a:off x="5835750" y="1207225"/>
            <a:ext cx="300" cy="358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42"/>
          <p:cNvSpPr txBox="1"/>
          <p:nvPr/>
        </p:nvSpPr>
        <p:spPr>
          <a:xfrm>
            <a:off x="504600" y="2933425"/>
            <a:ext cx="1833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-"/>
            </a:pPr>
            <a:r>
              <a:rPr lang="de" sz="1700">
                <a:latin typeface="Verdana"/>
                <a:ea typeface="Verdana"/>
                <a:cs typeface="Verdana"/>
                <a:sym typeface="Verdana"/>
              </a:rPr>
              <a:t>Buttons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Char char="-"/>
            </a:pPr>
            <a:r>
              <a:rPr lang="de" sz="1700">
                <a:latin typeface="Verdana"/>
                <a:ea typeface="Verdana"/>
                <a:cs typeface="Verdana"/>
                <a:sym typeface="Verdana"/>
              </a:rPr>
              <a:t>UI-Sounds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6" name="Google Shape;286;p42"/>
          <p:cNvSpPr txBox="1"/>
          <p:nvPr/>
        </p:nvSpPr>
        <p:spPr>
          <a:xfrm>
            <a:off x="3156425" y="2933425"/>
            <a:ext cx="2502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de" sz="1700"/>
              <a:t>Intro/Menu Musik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de" sz="1700"/>
              <a:t>Spielmusik</a:t>
            </a:r>
            <a:endParaRPr sz="1700"/>
          </a:p>
        </p:txBody>
      </p:sp>
      <p:sp>
        <p:nvSpPr>
          <p:cNvPr id="287" name="Google Shape;287;p42"/>
          <p:cNvSpPr txBox="1"/>
          <p:nvPr/>
        </p:nvSpPr>
        <p:spPr>
          <a:xfrm>
            <a:off x="6407613" y="3064225"/>
            <a:ext cx="1833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de" sz="1700"/>
              <a:t>Voice-Actor</a:t>
            </a:r>
            <a:endParaRPr sz="1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5	Was wir gelernt haben!</a:t>
            </a:r>
            <a:endParaRPr b="1" sz="3466"/>
          </a:p>
        </p:txBody>
      </p:sp>
      <p:sp>
        <p:nvSpPr>
          <p:cNvPr id="293" name="Google Shape;293;p43"/>
          <p:cNvSpPr txBox="1"/>
          <p:nvPr>
            <p:ph idx="1" type="body"/>
          </p:nvPr>
        </p:nvSpPr>
        <p:spPr>
          <a:xfrm>
            <a:off x="339150" y="1304750"/>
            <a:ext cx="8465700" cy="3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e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Projekt Organisation</a:t>
            </a:r>
            <a:endParaRPr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Kommunikation ist sehr wichtig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gutes Zeitmanagement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konsequentes Debuggen und Fehlersuchen hilft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Bedeutung von QA Maßnahmen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Nicht Aufgeben!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4"/>
              <a:buFont typeface="Arial"/>
              <a:buNone/>
            </a:pPr>
            <a:r>
              <a:rPr b="1" lang="de" sz="2466">
                <a:latin typeface="Verdana"/>
                <a:ea typeface="Verdana"/>
                <a:cs typeface="Verdana"/>
                <a:sym typeface="Verdana"/>
              </a:rPr>
              <a:t>5	Was wir gelernt haben!</a:t>
            </a:r>
            <a:endParaRPr b="1" sz="3466"/>
          </a:p>
        </p:txBody>
      </p:sp>
      <p:sp>
        <p:nvSpPr>
          <p:cNvPr id="299" name="Google Shape;299;p44"/>
          <p:cNvSpPr txBox="1"/>
          <p:nvPr>
            <p:ph idx="1" type="body"/>
          </p:nvPr>
        </p:nvSpPr>
        <p:spPr>
          <a:xfrm>
            <a:off x="311700" y="1291650"/>
            <a:ext cx="8520600" cy="32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Programmierung</a:t>
            </a:r>
            <a:endParaRPr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Praxiserfahrung und Festigung des fundamentalen Grundwissens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Workflow Strategien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Abstrahierung und Vereinfachung einer Programmstruktur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Funktion eines Netzwerkprotokolls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Erstellung einer GUI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Website-Erstellung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d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Modellierung/Dokumentation einer Software-Architektur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type="title"/>
          </p:nvPr>
        </p:nvSpPr>
        <p:spPr>
          <a:xfrm>
            <a:off x="311700" y="385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Offizielle Webseite: </a:t>
            </a:r>
            <a:r>
              <a:rPr b="1" lang="de" u="sng">
                <a:solidFill>
                  <a:schemeClr val="hlink"/>
                </a:solidFill>
                <a:hlinkClick r:id="rId3"/>
              </a:rPr>
              <a:t>www.chess-mania.com</a:t>
            </a:r>
            <a:endParaRPr b="1" u="sng"/>
          </a:p>
        </p:txBody>
      </p:sp>
      <p:grpSp>
        <p:nvGrpSpPr>
          <p:cNvPr id="305" name="Google Shape;305;p45"/>
          <p:cNvGrpSpPr/>
          <p:nvPr/>
        </p:nvGrpSpPr>
        <p:grpSpPr>
          <a:xfrm>
            <a:off x="1644397" y="1244167"/>
            <a:ext cx="5855192" cy="3394979"/>
            <a:chOff x="3301748" y="1487303"/>
            <a:chExt cx="5405458" cy="3040461"/>
          </a:xfrm>
        </p:grpSpPr>
        <p:grpSp>
          <p:nvGrpSpPr>
            <p:cNvPr id="306" name="Google Shape;306;p45"/>
            <p:cNvGrpSpPr/>
            <p:nvPr/>
          </p:nvGrpSpPr>
          <p:grpSpPr>
            <a:xfrm>
              <a:off x="3301748" y="1487303"/>
              <a:ext cx="5405458" cy="3040461"/>
              <a:chOff x="3704250" y="1518750"/>
              <a:chExt cx="4770925" cy="2683549"/>
            </a:xfrm>
          </p:grpSpPr>
          <p:sp>
            <p:nvSpPr>
              <p:cNvPr id="307" name="Google Shape;307;p45"/>
              <p:cNvSpPr/>
              <p:nvPr/>
            </p:nvSpPr>
            <p:spPr>
              <a:xfrm>
                <a:off x="3704275" y="1518750"/>
                <a:ext cx="4770900" cy="2683500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08" name="Google Shape;308;p4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704250" y="1518750"/>
                <a:ext cx="4770749" cy="26835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9" name="Google Shape;309;p45"/>
            <p:cNvSpPr/>
            <p:nvPr/>
          </p:nvSpPr>
          <p:spPr>
            <a:xfrm>
              <a:off x="4709600" y="4069950"/>
              <a:ext cx="1074600" cy="245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5"/>
            <p:cNvSpPr txBox="1"/>
            <p:nvPr/>
          </p:nvSpPr>
          <p:spPr>
            <a:xfrm>
              <a:off x="3418400" y="3984750"/>
              <a:ext cx="1367400" cy="3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" sz="1500">
                  <a:solidFill>
                    <a:srgbClr val="FF0000"/>
                  </a:solidFill>
                </a:rPr>
                <a:t>DOWNLOAD</a:t>
              </a:r>
              <a:endParaRPr b="1" sz="15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6"/>
          <p:cNvPicPr preferRelativeResize="0"/>
          <p:nvPr/>
        </p:nvPicPr>
        <p:blipFill rotWithShape="1">
          <a:blip r:embed="rId3">
            <a:alphaModFix/>
          </a:blip>
          <a:srcRect b="33452" l="0" r="0" t="27744"/>
          <a:stretch/>
        </p:blipFill>
        <p:spPr>
          <a:xfrm>
            <a:off x="674388" y="2723500"/>
            <a:ext cx="7795224" cy="170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6"/>
          <p:cNvSpPr txBox="1"/>
          <p:nvPr/>
        </p:nvSpPr>
        <p:spPr>
          <a:xfrm>
            <a:off x="2579850" y="737800"/>
            <a:ext cx="3984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900">
                <a:latin typeface="Verdana"/>
                <a:ea typeface="Verdana"/>
                <a:cs typeface="Verdana"/>
                <a:sym typeface="Verdana"/>
              </a:rPr>
              <a:t>Dankeschön und viel Spass mit </a:t>
            </a:r>
            <a:endParaRPr b="1" sz="39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